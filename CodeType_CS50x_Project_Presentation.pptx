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53"/>
    <p:restoredTop sz="94610"/>
  </p:normalViewPr>
  <p:slideViewPr>
    <p:cSldViewPr snapToGrid="0" snapToObjects="1">
      <p:cViewPr varScale="1">
        <p:scale>
          <a:sx n="128" d="100"/>
          <a:sy n="128" d="100"/>
        </p:scale>
        <p:origin x="3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3716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Hi, I am S M Sajjad Hossain Soykot. My CS50x final project title is CodeType, a programming typing practice web application. My GitHub username is SajjadHossainSoykot, my edX username is shown here, I am recording from Kushtia, Bangladesh, on September 2, 2026.
[Sources]
- User-provided CS50 final-project requirements in the conversation.
- User-provided CodeType README and source files.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Traditional typing apps usually focus on prose. But programming uses very exact characters: brackets, semicolons, operators, indentation, and line breaks. CodeType solves this by letting programmers practice real snippets from C, Python, SQL, HTML, and JavaScript, while measuring how fast and accurately they type.
[Sources]
- User-provided CodeType README description and features.
- User-provided snippets/source context.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Script: The user flow is intentionally simple. First the user selects a language and difficulty. Flask chooses a random snippet. JavaScript handles the typing test in the browser and updates live metrics. When the snippet is typed exactly, the result is posted to Flask and saved in SQLite. Then the History page shows the stored attempts and statistics.
[Sources]
- User-provided CodeType app.py and test.js behavior.
- User-provided README features.</a:t>
            </a:r>
            <a:br>
              <a:rPr lang="en-US" dirty="0"/>
            </a:br>
            <a:br>
              <a:rPr lang="en-US" dirty="0"/>
            </a:br>
            <a:r>
              <a:rPr lang="en-US" dirty="0"/>
              <a:t>Here I’ll select Python and Medium, then start typing. The timer starts only when I begin. Correct characters are highlighted, mistakes are shown, and if I fix a mistake with Backspace, the mistake is still counted. When the snippet exactly matches, </a:t>
            </a:r>
            <a:r>
              <a:rPr lang="en-US" dirty="0" err="1"/>
              <a:t>CodeType</a:t>
            </a:r>
            <a:r>
              <a:rPr lang="en-US" dirty="0"/>
              <a:t> shows my final WPM, accuracy, mistakes, and time. Now I’ll open History, where previous attempts and statistics are stored.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Architecturally, the project uses JSON for static snippets because they ship with the app, and SQLite for dynamic attempts because results grow over time. Flask validates the request and inserts the attempt using SQL placeholders. The History page then uses SQL aggregate functions like COUNT, MAX, AVG, GROUP BY, and ORDER BY.
[Sources]
- User-provided app.py route, validation, and SQL query behavior.
- User-provided README database and design-decisions sections.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CodeType let me combine several CS50 ideas in one project: Python and Flask for the backend, SQLite for persistence, HTML and CSS for structure and presentation, JavaScript for real-time interaction, and string comparison for the typing algorithm. I kept the scope focused so the final product is small but complete. Thank you.
[Sources]
- User-provided CodeType README and reviewed source files.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DETYPE_MASTER">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0" y="0"/>
            <a:ext cx="0" cy="0"/>
          </a:xfrm>
          <a:prstGeom prst="rect">
            <a:avLst/>
          </a:prstGeom>
          <a:noFill/>
          <a:ln/>
        </p:spPr>
        <p:txBody>
          <a:bodyPr wrap="square" rtlCol="0" anchor="ctr"/>
          <a:lstStyle/>
          <a:p>
            <a:pPr marL="0" indent="0">
              <a:buNone/>
            </a:pPr>
            <a:endParaRPr lang="en-US"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ajjadsoykot.m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624360" y="509259"/>
            <a:ext cx="4892521" cy="877824"/>
          </a:xfrm>
          <a:prstGeom prst="rect">
            <a:avLst/>
          </a:prstGeom>
          <a:noFill/>
          <a:ln/>
        </p:spPr>
        <p:txBody>
          <a:bodyPr wrap="square" lIns="0" tIns="0" rIns="0" bIns="0" rtlCol="0" anchor="ctr"/>
          <a:lstStyle/>
          <a:p>
            <a:pPr marL="0" indent="0">
              <a:buNone/>
            </a:pPr>
            <a:r>
              <a:rPr lang="en-US" sz="7200" b="1" dirty="0">
                <a:solidFill>
                  <a:srgbClr val="F8FAFC"/>
                </a:solidFill>
                <a:latin typeface="Aptos Display" pitchFamily="34" charset="0"/>
                <a:ea typeface="Aptos Display" pitchFamily="34" charset="-122"/>
                <a:cs typeface="Aptos Display" pitchFamily="34" charset="-120"/>
              </a:rPr>
              <a:t>CodeType</a:t>
            </a:r>
            <a:endParaRPr lang="en-US" sz="7200" dirty="0"/>
          </a:p>
        </p:txBody>
      </p:sp>
      <p:sp>
        <p:nvSpPr>
          <p:cNvPr id="3" name="Text 1"/>
          <p:cNvSpPr/>
          <p:nvPr/>
        </p:nvSpPr>
        <p:spPr>
          <a:xfrm>
            <a:off x="713232" y="1444752"/>
            <a:ext cx="5317958" cy="376210"/>
          </a:xfrm>
          <a:prstGeom prst="rect">
            <a:avLst/>
          </a:prstGeom>
          <a:noFill/>
          <a:ln/>
        </p:spPr>
        <p:txBody>
          <a:bodyPr wrap="square" lIns="0" tIns="0" rIns="0" bIns="0" rtlCol="0" anchor="ctr"/>
          <a:lstStyle/>
          <a:p>
            <a:pPr marL="0" indent="0">
              <a:buNone/>
            </a:pPr>
            <a:r>
              <a:rPr lang="en-US" sz="2800" dirty="0">
                <a:solidFill>
                  <a:srgbClr val="22D3EE"/>
                </a:solidFill>
                <a:latin typeface="Aptos" pitchFamily="34" charset="0"/>
                <a:ea typeface="Aptos" pitchFamily="34" charset="-122"/>
                <a:cs typeface="Aptos" pitchFamily="34" charset="-120"/>
              </a:rPr>
              <a:t>Programming Typing Practice</a:t>
            </a:r>
            <a:endParaRPr lang="en-US" sz="2800" dirty="0"/>
          </a:p>
        </p:txBody>
      </p:sp>
      <p:sp>
        <p:nvSpPr>
          <p:cNvPr id="4" name="Text 2"/>
          <p:cNvSpPr/>
          <p:nvPr/>
        </p:nvSpPr>
        <p:spPr>
          <a:xfrm>
            <a:off x="713232" y="2108084"/>
            <a:ext cx="2499440" cy="426372"/>
          </a:xfrm>
          <a:prstGeom prst="rect">
            <a:avLst/>
          </a:prstGeom>
          <a:solidFill>
            <a:srgbClr val="1E293B"/>
          </a:solidFill>
          <a:ln>
            <a:solidFill>
              <a:srgbClr val="FBBF24">
                <a:alpha val="70000"/>
              </a:srgbClr>
            </a:solidFill>
          </a:ln>
        </p:spPr>
        <p:txBody>
          <a:bodyPr wrap="square" lIns="508" tIns="508" rIns="508" bIns="508" rtlCol="0" anchor="ctr"/>
          <a:lstStyle/>
          <a:p>
            <a:pPr marL="0" indent="0" algn="ctr">
              <a:buNone/>
            </a:pPr>
            <a:r>
              <a:rPr lang="en-US" sz="2000" b="1" dirty="0">
                <a:solidFill>
                  <a:srgbClr val="FBBF24"/>
                </a:solidFill>
                <a:latin typeface="Aptos" pitchFamily="34" charset="0"/>
                <a:ea typeface="Aptos" pitchFamily="34" charset="-122"/>
                <a:cs typeface="Aptos" pitchFamily="34" charset="-120"/>
              </a:rPr>
              <a:t>CS50x Final Project</a:t>
            </a:r>
            <a:endParaRPr lang="en-US" sz="2000" dirty="0"/>
          </a:p>
        </p:txBody>
      </p:sp>
      <p:sp>
        <p:nvSpPr>
          <p:cNvPr id="5" name="Text 3"/>
          <p:cNvSpPr/>
          <p:nvPr/>
        </p:nvSpPr>
        <p:spPr>
          <a:xfrm>
            <a:off x="713232" y="2971801"/>
            <a:ext cx="6062472" cy="2194560"/>
          </a:xfrm>
          <a:prstGeom prst="rect">
            <a:avLst/>
          </a:prstGeom>
          <a:noFill/>
          <a:ln/>
        </p:spPr>
        <p:txBody>
          <a:bodyPr wrap="square" lIns="381" tIns="381" rIns="381" bIns="381" rtlCol="0" anchor="ctr">
            <a:normAutofit/>
          </a:bodyPr>
          <a:lstStyle/>
          <a:p>
            <a:r>
              <a:rPr lang="en-US" sz="2000" b="1" dirty="0">
                <a:solidFill>
                  <a:srgbClr val="F8FAFC"/>
                </a:solidFill>
                <a:latin typeface="Aptos" pitchFamily="34" charset="0"/>
                <a:ea typeface="Aptos" pitchFamily="34" charset="-122"/>
                <a:cs typeface="Aptos" pitchFamily="34" charset="-120"/>
              </a:rPr>
              <a:t>Name: </a:t>
            </a:r>
            <a:r>
              <a:rPr lang="en-US" sz="2000" dirty="0">
                <a:solidFill>
                  <a:srgbClr val="94A3B8"/>
                </a:solidFill>
                <a:latin typeface="Aptos" pitchFamily="34" charset="0"/>
                <a:ea typeface="Aptos" pitchFamily="34" charset="-122"/>
                <a:cs typeface="Aptos" pitchFamily="34" charset="-120"/>
              </a:rPr>
              <a:t>S M Sajjad Hossain Soykot
</a:t>
            </a:r>
            <a:r>
              <a:rPr lang="en-US" sz="2000" b="1" dirty="0">
                <a:solidFill>
                  <a:srgbClr val="F8FAFC"/>
                </a:solidFill>
                <a:latin typeface="Aptos" pitchFamily="34" charset="0"/>
                <a:ea typeface="Aptos" pitchFamily="34" charset="-122"/>
                <a:cs typeface="Aptos" pitchFamily="34" charset="-120"/>
              </a:rPr>
              <a:t>GitHub: </a:t>
            </a:r>
            <a:r>
              <a:rPr lang="en-US" sz="2000" dirty="0" err="1">
                <a:solidFill>
                  <a:srgbClr val="94A3B8"/>
                </a:solidFill>
                <a:latin typeface="Aptos" pitchFamily="34" charset="0"/>
                <a:ea typeface="Aptos" pitchFamily="34" charset="-122"/>
                <a:cs typeface="Aptos" pitchFamily="34" charset="-120"/>
              </a:rPr>
              <a:t>SajjadHossainSoykot</a:t>
            </a:r>
            <a:r>
              <a:rPr lang="en-US" sz="2000" dirty="0">
                <a:solidFill>
                  <a:srgbClr val="94A3B8"/>
                </a:solidFill>
                <a:latin typeface="Aptos" pitchFamily="34" charset="0"/>
                <a:ea typeface="Aptos" pitchFamily="34" charset="-122"/>
                <a:cs typeface="Aptos" pitchFamily="34" charset="-120"/>
              </a:rPr>
              <a:t>
</a:t>
            </a:r>
            <a:r>
              <a:rPr lang="en-US" sz="2000" b="1" dirty="0">
                <a:solidFill>
                  <a:srgbClr val="F8FAFC"/>
                </a:solidFill>
                <a:latin typeface="Aptos" pitchFamily="34" charset="0"/>
                <a:ea typeface="Aptos" pitchFamily="34" charset="-122"/>
                <a:cs typeface="Aptos" pitchFamily="34" charset="-120"/>
              </a:rPr>
              <a:t>edX username: </a:t>
            </a:r>
            <a:r>
              <a:rPr lang="en-US" sz="2000" dirty="0" err="1">
                <a:solidFill>
                  <a:srgbClr val="94A3B8"/>
                </a:solidFill>
                <a:latin typeface="Aptos" pitchFamily="34" charset="0"/>
                <a:ea typeface="Aptos" pitchFamily="34" charset="-122"/>
                <a:cs typeface="Aptos" pitchFamily="34" charset="-120"/>
              </a:rPr>
              <a:t>SajjadHossainSoykot</a:t>
            </a:r>
            <a:r>
              <a:rPr lang="en-US" sz="2000" dirty="0">
                <a:solidFill>
                  <a:srgbClr val="94A3B8"/>
                </a:solidFill>
                <a:latin typeface="Aptos" pitchFamily="34" charset="0"/>
                <a:ea typeface="Aptos" pitchFamily="34" charset="-122"/>
                <a:cs typeface="Aptos" pitchFamily="34" charset="-120"/>
              </a:rPr>
              <a:t> </a:t>
            </a:r>
            <a:r>
              <a:rPr lang="en-US" sz="2000" dirty="0">
                <a:solidFill>
                  <a:srgbClr val="FB7185"/>
                </a:solidFill>
                <a:latin typeface="Aptos" pitchFamily="34" charset="0"/>
                <a:ea typeface="Aptos" pitchFamily="34" charset="-122"/>
                <a:cs typeface="Aptos" pitchFamily="34" charset="-120"/>
              </a:rPr>
              <a:t>
</a:t>
            </a:r>
            <a:r>
              <a:rPr lang="en-US" sz="2000" b="1" dirty="0">
                <a:solidFill>
                  <a:srgbClr val="F8FAFC"/>
                </a:solidFill>
                <a:latin typeface="Aptos" pitchFamily="34" charset="0"/>
                <a:ea typeface="Aptos" pitchFamily="34" charset="-122"/>
                <a:cs typeface="Aptos" pitchFamily="34" charset="-120"/>
              </a:rPr>
              <a:t>LinkedIn: </a:t>
            </a:r>
            <a:r>
              <a:rPr lang="en-US" sz="2000" dirty="0">
                <a:solidFill>
                  <a:srgbClr val="94A3B8"/>
                </a:solidFill>
                <a:latin typeface="Aptos" pitchFamily="34" charset="0"/>
                <a:ea typeface="Aptos" pitchFamily="34" charset="-122"/>
                <a:cs typeface="Aptos" pitchFamily="34" charset="-120"/>
              </a:rPr>
              <a:t>S M Sajjad Hossain Soykot
</a:t>
            </a:r>
            <a:r>
              <a:rPr lang="en-US" sz="2000" b="1" dirty="0">
                <a:solidFill>
                  <a:srgbClr val="F8FAFC"/>
                </a:solidFill>
                <a:latin typeface="Aptos" pitchFamily="34" charset="0"/>
                <a:ea typeface="Aptos" pitchFamily="34" charset="-122"/>
                <a:cs typeface="Aptos" pitchFamily="34" charset="-120"/>
              </a:rPr>
              <a:t>City/Country: </a:t>
            </a:r>
            <a:r>
              <a:rPr lang="en-US" sz="2000" dirty="0" err="1">
                <a:solidFill>
                  <a:srgbClr val="94A3B8"/>
                </a:solidFill>
                <a:latin typeface="Aptos" pitchFamily="34" charset="0"/>
                <a:ea typeface="Aptos" pitchFamily="34" charset="-122"/>
                <a:cs typeface="Aptos" pitchFamily="34" charset="-120"/>
              </a:rPr>
              <a:t>Kushtia</a:t>
            </a:r>
            <a:r>
              <a:rPr lang="en-US" sz="2000" dirty="0">
                <a:solidFill>
                  <a:srgbClr val="94A3B8"/>
                </a:solidFill>
                <a:latin typeface="Aptos" pitchFamily="34" charset="0"/>
                <a:ea typeface="Aptos" pitchFamily="34" charset="-122"/>
                <a:cs typeface="Aptos" pitchFamily="34" charset="-120"/>
              </a:rPr>
              <a:t>, Bangladesh
</a:t>
            </a:r>
            <a:r>
              <a:rPr lang="en-US" sz="2000" b="1" dirty="0">
                <a:solidFill>
                  <a:srgbClr val="F8FAFC"/>
                </a:solidFill>
                <a:latin typeface="Aptos" pitchFamily="34" charset="0"/>
                <a:ea typeface="Aptos" pitchFamily="34" charset="-122"/>
                <a:cs typeface="Aptos" pitchFamily="34" charset="-120"/>
              </a:rPr>
              <a:t>Date: </a:t>
            </a:r>
            <a:r>
              <a:rPr lang="en-US" sz="2000" dirty="0">
                <a:solidFill>
                  <a:srgbClr val="94A3B8"/>
                </a:solidFill>
                <a:latin typeface="Aptos" pitchFamily="34" charset="0"/>
                <a:ea typeface="Aptos" pitchFamily="34" charset="-122"/>
                <a:cs typeface="Aptos" pitchFamily="34" charset="-120"/>
              </a:rPr>
              <a:t>September 2, 2026</a:t>
            </a:r>
          </a:p>
        </p:txBody>
      </p:sp>
      <p:sp>
        <p:nvSpPr>
          <p:cNvPr id="6" name="Text 4"/>
          <p:cNvSpPr/>
          <p:nvPr/>
        </p:nvSpPr>
        <p:spPr>
          <a:xfrm>
            <a:off x="6675120" y="640080"/>
            <a:ext cx="2926080" cy="228600"/>
          </a:xfrm>
          <a:prstGeom prst="rect">
            <a:avLst/>
          </a:prstGeom>
          <a:noFill/>
          <a:ln/>
        </p:spPr>
        <p:txBody>
          <a:bodyPr wrap="square" lIns="0" tIns="0" rIns="0" bIns="0" rtlCol="0" anchor="ctr"/>
          <a:lstStyle/>
          <a:p>
            <a:pPr marL="0" indent="0">
              <a:buNone/>
            </a:pPr>
            <a:r>
              <a:rPr lang="en-US" sz="1400" dirty="0">
                <a:solidFill>
                  <a:srgbClr val="64748B"/>
                </a:solidFill>
                <a:latin typeface="Aptos" pitchFamily="34" charset="0"/>
                <a:ea typeface="Aptos" pitchFamily="34" charset="-122"/>
                <a:cs typeface="Aptos" pitchFamily="34" charset="-120"/>
              </a:rPr>
              <a:t>typing engine preview</a:t>
            </a:r>
            <a:endParaRPr lang="en-US" sz="1400" dirty="0"/>
          </a:p>
        </p:txBody>
      </p:sp>
      <p:sp>
        <p:nvSpPr>
          <p:cNvPr id="7" name="Text 5"/>
          <p:cNvSpPr/>
          <p:nvPr/>
        </p:nvSpPr>
        <p:spPr>
          <a:xfrm>
            <a:off x="6675120" y="960120"/>
            <a:ext cx="4617720" cy="1828800"/>
          </a:xfrm>
          <a:prstGeom prst="rect">
            <a:avLst/>
          </a:prstGeom>
          <a:solidFill>
            <a:srgbClr val="020617"/>
          </a:solidFill>
          <a:ln>
            <a:solidFill>
              <a:srgbClr val="334155"/>
            </a:solidFill>
          </a:ln>
          <a:effectLst>
            <a:outerShdw blurRad="25400" dist="12700" dir="2700000" algn="bl" rotWithShape="0">
              <a:srgbClr val="000000">
                <a:alpha val="25000"/>
              </a:srgbClr>
            </a:outerShdw>
          </a:effectLst>
        </p:spPr>
        <p:txBody>
          <a:bodyPr wrap="square" lIns="2794" tIns="2794" rIns="2794" bIns="279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for</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int</a:t>
            </a:r>
            <a:r>
              <a:rPr lang="en-US" sz="1400" dirty="0">
                <a:solidFill>
                  <a:srgbClr val="FFFFFF"/>
                </a:solidFill>
                <a:latin typeface="Consolas" pitchFamily="34" charset="0"/>
                <a:ea typeface="Consolas" pitchFamily="34" charset="-122"/>
                <a:cs typeface="Consolas" pitchFamily="34" charset="-120"/>
              </a:rPr>
              <a:t> i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i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printf</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numbers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8F8F2"/>
                </a:solidFill>
                <a:latin typeface="Consolas" pitchFamily="34" charset="0"/>
                <a:ea typeface="Consolas" pitchFamily="34" charset="-122"/>
                <a:cs typeface="Consolas" pitchFamily="34" charset="-120"/>
              </a:rPr>
              <a:t>}</a:t>
            </a:r>
            <a:endParaRPr lang="en-US" sz="1800" dirty="0"/>
          </a:p>
        </p:txBody>
      </p:sp>
      <p:sp>
        <p:nvSpPr>
          <p:cNvPr id="8" name="Text 6"/>
          <p:cNvSpPr/>
          <p:nvPr/>
        </p:nvSpPr>
        <p:spPr>
          <a:xfrm>
            <a:off x="6711696" y="3127248"/>
            <a:ext cx="1097280" cy="201168"/>
          </a:xfrm>
          <a:prstGeom prst="rect">
            <a:avLst/>
          </a:prstGeom>
          <a:noFill/>
          <a:ln/>
        </p:spPr>
        <p:txBody>
          <a:bodyPr wrap="square" lIns="0" tIns="0" rIns="0" bIns="0" rtlCol="0" anchor="ctr"/>
          <a:lstStyle/>
          <a:p>
            <a:pPr marL="0" indent="0">
              <a:buNone/>
            </a:pPr>
            <a:r>
              <a:rPr lang="en-US" sz="950" dirty="0">
                <a:solidFill>
                  <a:srgbClr val="94A3B8"/>
                </a:solidFill>
                <a:latin typeface="Aptos" pitchFamily="34" charset="0"/>
                <a:ea typeface="Aptos" pitchFamily="34" charset="-122"/>
                <a:cs typeface="Aptos" pitchFamily="34" charset="-120"/>
              </a:rPr>
              <a:t>WPM</a:t>
            </a:r>
            <a:endParaRPr lang="en-US" sz="950" dirty="0"/>
          </a:p>
        </p:txBody>
      </p:sp>
      <p:sp>
        <p:nvSpPr>
          <p:cNvPr id="9" name="Text 7"/>
          <p:cNvSpPr/>
          <p:nvPr/>
        </p:nvSpPr>
        <p:spPr>
          <a:xfrm>
            <a:off x="6711696" y="3374136"/>
            <a:ext cx="1097280" cy="438912"/>
          </a:xfrm>
          <a:prstGeom prst="rect">
            <a:avLst/>
          </a:prstGeom>
          <a:noFill/>
          <a:ln/>
        </p:spPr>
        <p:txBody>
          <a:bodyPr wrap="square" lIns="0" tIns="0" rIns="0" bIns="0" rtlCol="0" anchor="ctr"/>
          <a:lstStyle/>
          <a:p>
            <a:pPr marL="0" indent="0">
              <a:buNone/>
            </a:pPr>
            <a:r>
              <a:rPr lang="en-US" sz="2300" b="1" dirty="0">
                <a:solidFill>
                  <a:srgbClr val="4ADE80"/>
                </a:solidFill>
                <a:latin typeface="Aptos Display" pitchFamily="34" charset="0"/>
                <a:ea typeface="Aptos Display" pitchFamily="34" charset="-122"/>
                <a:cs typeface="Aptos Display" pitchFamily="34" charset="-120"/>
              </a:rPr>
              <a:t>52.4</a:t>
            </a:r>
            <a:endParaRPr lang="en-US" sz="2300" dirty="0"/>
          </a:p>
        </p:txBody>
      </p:sp>
      <p:sp>
        <p:nvSpPr>
          <p:cNvPr id="10" name="Text 8"/>
          <p:cNvSpPr/>
          <p:nvPr/>
        </p:nvSpPr>
        <p:spPr>
          <a:xfrm>
            <a:off x="8065008" y="3127248"/>
            <a:ext cx="1554480" cy="201168"/>
          </a:xfrm>
          <a:prstGeom prst="rect">
            <a:avLst/>
          </a:prstGeom>
          <a:noFill/>
          <a:ln/>
        </p:spPr>
        <p:txBody>
          <a:bodyPr wrap="square" lIns="0" tIns="0" rIns="0" bIns="0" rtlCol="0" anchor="ctr"/>
          <a:lstStyle/>
          <a:p>
            <a:pPr marL="0" indent="0">
              <a:buNone/>
            </a:pPr>
            <a:r>
              <a:rPr lang="en-US" sz="950" dirty="0">
                <a:solidFill>
                  <a:srgbClr val="94A3B8"/>
                </a:solidFill>
                <a:latin typeface="Aptos" pitchFamily="34" charset="0"/>
                <a:ea typeface="Aptos" pitchFamily="34" charset="-122"/>
                <a:cs typeface="Aptos" pitchFamily="34" charset="-120"/>
              </a:rPr>
              <a:t>Accuracy</a:t>
            </a:r>
            <a:endParaRPr lang="en-US" sz="950" dirty="0"/>
          </a:p>
        </p:txBody>
      </p:sp>
      <p:sp>
        <p:nvSpPr>
          <p:cNvPr id="11" name="Text 9"/>
          <p:cNvSpPr/>
          <p:nvPr/>
        </p:nvSpPr>
        <p:spPr>
          <a:xfrm>
            <a:off x="8065008" y="3374136"/>
            <a:ext cx="1554480" cy="438912"/>
          </a:xfrm>
          <a:prstGeom prst="rect">
            <a:avLst/>
          </a:prstGeom>
          <a:noFill/>
          <a:ln/>
        </p:spPr>
        <p:txBody>
          <a:bodyPr wrap="square" lIns="0" tIns="0" rIns="0" bIns="0" rtlCol="0" anchor="ctr"/>
          <a:lstStyle/>
          <a:p>
            <a:pPr marL="0" indent="0">
              <a:buNone/>
            </a:pPr>
            <a:r>
              <a:rPr lang="en-US" sz="2300" b="1" dirty="0">
                <a:solidFill>
                  <a:srgbClr val="22D3EE"/>
                </a:solidFill>
                <a:latin typeface="Aptos Display" pitchFamily="34" charset="0"/>
                <a:ea typeface="Aptos Display" pitchFamily="34" charset="-122"/>
                <a:cs typeface="Aptos Display" pitchFamily="34" charset="-120"/>
              </a:rPr>
              <a:t>96.8%</a:t>
            </a:r>
            <a:endParaRPr lang="en-US" sz="2300" dirty="0"/>
          </a:p>
        </p:txBody>
      </p:sp>
      <p:sp>
        <p:nvSpPr>
          <p:cNvPr id="12" name="Text 10"/>
          <p:cNvSpPr/>
          <p:nvPr/>
        </p:nvSpPr>
        <p:spPr>
          <a:xfrm>
            <a:off x="9829800" y="3127248"/>
            <a:ext cx="1097280" cy="201168"/>
          </a:xfrm>
          <a:prstGeom prst="rect">
            <a:avLst/>
          </a:prstGeom>
          <a:noFill/>
          <a:ln/>
        </p:spPr>
        <p:txBody>
          <a:bodyPr wrap="square" lIns="0" tIns="0" rIns="0" bIns="0" rtlCol="0" anchor="ctr"/>
          <a:lstStyle/>
          <a:p>
            <a:pPr marL="0" indent="0">
              <a:buNone/>
            </a:pPr>
            <a:r>
              <a:rPr lang="en-US" sz="950" dirty="0">
                <a:solidFill>
                  <a:srgbClr val="94A3B8"/>
                </a:solidFill>
                <a:latin typeface="Aptos" pitchFamily="34" charset="0"/>
                <a:ea typeface="Aptos" pitchFamily="34" charset="-122"/>
                <a:cs typeface="Aptos" pitchFamily="34" charset="-120"/>
              </a:rPr>
              <a:t>Mistakes</a:t>
            </a:r>
            <a:endParaRPr lang="en-US" sz="950" dirty="0"/>
          </a:p>
        </p:txBody>
      </p:sp>
      <p:sp>
        <p:nvSpPr>
          <p:cNvPr id="13" name="Text 11"/>
          <p:cNvSpPr/>
          <p:nvPr/>
        </p:nvSpPr>
        <p:spPr>
          <a:xfrm>
            <a:off x="9829800" y="3374136"/>
            <a:ext cx="1097280" cy="438912"/>
          </a:xfrm>
          <a:prstGeom prst="rect">
            <a:avLst/>
          </a:prstGeom>
          <a:noFill/>
          <a:ln/>
        </p:spPr>
        <p:txBody>
          <a:bodyPr wrap="square" lIns="0" tIns="0" rIns="0" bIns="0" rtlCol="0" anchor="ctr"/>
          <a:lstStyle/>
          <a:p>
            <a:pPr marL="0" indent="0">
              <a:buNone/>
            </a:pPr>
            <a:r>
              <a:rPr lang="en-US" sz="2300" b="1" dirty="0">
                <a:solidFill>
                  <a:srgbClr val="FB7185"/>
                </a:solidFill>
                <a:latin typeface="Aptos Display" pitchFamily="34" charset="0"/>
                <a:ea typeface="Aptos Display" pitchFamily="34" charset="-122"/>
                <a:cs typeface="Aptos Display" pitchFamily="34" charset="-120"/>
              </a:rPr>
              <a:t>3</a:t>
            </a:r>
            <a:endParaRPr lang="en-US" sz="2300" dirty="0"/>
          </a:p>
        </p:txBody>
      </p:sp>
      <p:sp>
        <p:nvSpPr>
          <p:cNvPr id="14" name="Text 12"/>
          <p:cNvSpPr/>
          <p:nvPr/>
        </p:nvSpPr>
        <p:spPr>
          <a:xfrm>
            <a:off x="6693408" y="4160520"/>
            <a:ext cx="5263366" cy="457200"/>
          </a:xfrm>
          <a:prstGeom prst="rect">
            <a:avLst/>
          </a:prstGeom>
          <a:noFill/>
          <a:ln/>
        </p:spPr>
        <p:txBody>
          <a:bodyPr wrap="square" lIns="0" tIns="0" rIns="0" bIns="0" rtlCol="0" anchor="ctr"/>
          <a:lstStyle/>
          <a:p>
            <a:pPr marL="0" indent="0">
              <a:buNone/>
            </a:pPr>
            <a:r>
              <a:rPr lang="en-US" sz="1300" dirty="0">
                <a:solidFill>
                  <a:srgbClr val="94A3B8"/>
                </a:solidFill>
                <a:latin typeface="Aptos" pitchFamily="34" charset="0"/>
                <a:ea typeface="Aptos" pitchFamily="34" charset="-122"/>
                <a:cs typeface="Aptos" pitchFamily="34" charset="-120"/>
              </a:rPr>
              <a:t>Practice real code · Track progress with SQLite · Explainable in 3 minutes</a:t>
            </a:r>
            <a:endParaRPr lang="en-US" sz="1300" dirty="0"/>
          </a:p>
        </p:txBody>
      </p:sp>
      <p:sp>
        <p:nvSpPr>
          <p:cNvPr id="15" name="Text 13"/>
          <p:cNvSpPr/>
          <p:nvPr/>
        </p:nvSpPr>
        <p:spPr>
          <a:xfrm>
            <a:off x="6720840" y="4800600"/>
            <a:ext cx="502920" cy="320040"/>
          </a:xfrm>
          <a:prstGeom prst="rect">
            <a:avLst/>
          </a:prstGeom>
          <a:solidFill>
            <a:srgbClr val="0F172A"/>
          </a:solidFill>
          <a:ln>
            <a:solidFill>
              <a:srgbClr val="60A5FA">
                <a:alpha val="70000"/>
              </a:srgbClr>
            </a:solidFill>
          </a:ln>
        </p:spPr>
        <p:txBody>
          <a:bodyPr wrap="square" lIns="635" tIns="635" rIns="635" bIns="635" rtlCol="0" anchor="ctr"/>
          <a:lstStyle/>
          <a:p>
            <a:pPr marL="0" indent="0" algn="ctr">
              <a:buNone/>
            </a:pPr>
            <a:r>
              <a:rPr lang="en-US" sz="1150" b="1" dirty="0">
                <a:solidFill>
                  <a:srgbClr val="60A5FA"/>
                </a:solidFill>
                <a:latin typeface="Aptos" pitchFamily="34" charset="0"/>
                <a:ea typeface="Aptos" pitchFamily="34" charset="-122"/>
                <a:cs typeface="Aptos" pitchFamily="34" charset="-120"/>
              </a:rPr>
              <a:t>C</a:t>
            </a:r>
            <a:endParaRPr lang="en-US" sz="1150" dirty="0"/>
          </a:p>
        </p:txBody>
      </p:sp>
      <p:sp>
        <p:nvSpPr>
          <p:cNvPr id="16" name="Text 14"/>
          <p:cNvSpPr/>
          <p:nvPr/>
        </p:nvSpPr>
        <p:spPr>
          <a:xfrm>
            <a:off x="7406640" y="4800600"/>
            <a:ext cx="960120" cy="320040"/>
          </a:xfrm>
          <a:prstGeom prst="rect">
            <a:avLst/>
          </a:prstGeom>
          <a:solidFill>
            <a:srgbClr val="0F172A"/>
          </a:solidFill>
          <a:ln>
            <a:solidFill>
              <a:srgbClr val="4ADE80">
                <a:alpha val="70000"/>
              </a:srgbClr>
            </a:solidFill>
          </a:ln>
        </p:spPr>
        <p:txBody>
          <a:bodyPr wrap="square" lIns="635" tIns="635" rIns="635" bIns="635" rtlCol="0" anchor="ctr"/>
          <a:lstStyle/>
          <a:p>
            <a:pPr marL="0" indent="0" algn="ctr">
              <a:buNone/>
            </a:pPr>
            <a:r>
              <a:rPr lang="en-US" sz="1150" b="1" dirty="0">
                <a:solidFill>
                  <a:srgbClr val="4ADE80"/>
                </a:solidFill>
                <a:latin typeface="Aptos" pitchFamily="34" charset="0"/>
                <a:ea typeface="Aptos" pitchFamily="34" charset="-122"/>
                <a:cs typeface="Aptos" pitchFamily="34" charset="-120"/>
              </a:rPr>
              <a:t>Python</a:t>
            </a:r>
            <a:endParaRPr lang="en-US" sz="1150" dirty="0"/>
          </a:p>
        </p:txBody>
      </p:sp>
      <p:sp>
        <p:nvSpPr>
          <p:cNvPr id="17" name="Text 15"/>
          <p:cNvSpPr/>
          <p:nvPr/>
        </p:nvSpPr>
        <p:spPr>
          <a:xfrm>
            <a:off x="8549640" y="4800600"/>
            <a:ext cx="685800" cy="320040"/>
          </a:xfrm>
          <a:prstGeom prst="rect">
            <a:avLst/>
          </a:prstGeom>
          <a:solidFill>
            <a:srgbClr val="0F172A"/>
          </a:solidFill>
          <a:ln>
            <a:solidFill>
              <a:srgbClr val="FBBF24">
                <a:alpha val="70000"/>
              </a:srgbClr>
            </a:solidFill>
          </a:ln>
        </p:spPr>
        <p:txBody>
          <a:bodyPr wrap="square" lIns="635" tIns="635" rIns="635" bIns="635" rtlCol="0" anchor="ctr"/>
          <a:lstStyle/>
          <a:p>
            <a:pPr marL="0" indent="0" algn="ctr">
              <a:buNone/>
            </a:pPr>
            <a:r>
              <a:rPr lang="en-US" sz="1150" b="1" dirty="0">
                <a:solidFill>
                  <a:srgbClr val="FBBF24"/>
                </a:solidFill>
                <a:latin typeface="Aptos" pitchFamily="34" charset="0"/>
                <a:ea typeface="Aptos" pitchFamily="34" charset="-122"/>
                <a:cs typeface="Aptos" pitchFamily="34" charset="-120"/>
              </a:rPr>
              <a:t>SQL</a:t>
            </a:r>
            <a:endParaRPr lang="en-US" sz="1150" dirty="0"/>
          </a:p>
        </p:txBody>
      </p:sp>
      <p:sp>
        <p:nvSpPr>
          <p:cNvPr id="18" name="Text 16"/>
          <p:cNvSpPr/>
          <p:nvPr/>
        </p:nvSpPr>
        <p:spPr>
          <a:xfrm>
            <a:off x="9418320" y="4800600"/>
            <a:ext cx="777240" cy="320040"/>
          </a:xfrm>
          <a:prstGeom prst="rect">
            <a:avLst/>
          </a:prstGeom>
          <a:solidFill>
            <a:srgbClr val="0F172A"/>
          </a:solidFill>
          <a:ln>
            <a:solidFill>
              <a:srgbClr val="FB7185">
                <a:alpha val="70000"/>
              </a:srgbClr>
            </a:solidFill>
          </a:ln>
        </p:spPr>
        <p:txBody>
          <a:bodyPr wrap="square" lIns="635" tIns="635" rIns="635" bIns="635" rtlCol="0" anchor="ctr"/>
          <a:lstStyle/>
          <a:p>
            <a:pPr marL="0" indent="0" algn="ctr">
              <a:buNone/>
            </a:pPr>
            <a:r>
              <a:rPr lang="en-US" sz="1150" b="1" dirty="0">
                <a:solidFill>
                  <a:srgbClr val="FB7185"/>
                </a:solidFill>
                <a:latin typeface="Aptos" pitchFamily="34" charset="0"/>
                <a:ea typeface="Aptos" pitchFamily="34" charset="-122"/>
                <a:cs typeface="Aptos" pitchFamily="34" charset="-120"/>
              </a:rPr>
              <a:t>HTML</a:t>
            </a:r>
            <a:endParaRPr lang="en-US" sz="1150" dirty="0"/>
          </a:p>
        </p:txBody>
      </p:sp>
      <p:sp>
        <p:nvSpPr>
          <p:cNvPr id="19" name="Text 17"/>
          <p:cNvSpPr/>
          <p:nvPr/>
        </p:nvSpPr>
        <p:spPr>
          <a:xfrm>
            <a:off x="10378440" y="4800600"/>
            <a:ext cx="1143000" cy="320040"/>
          </a:xfrm>
          <a:prstGeom prst="rect">
            <a:avLst/>
          </a:prstGeom>
          <a:solidFill>
            <a:srgbClr val="0F172A"/>
          </a:solidFill>
          <a:ln>
            <a:solidFill>
              <a:srgbClr val="A78BFA">
                <a:alpha val="70000"/>
              </a:srgbClr>
            </a:solidFill>
          </a:ln>
        </p:spPr>
        <p:txBody>
          <a:bodyPr wrap="square" lIns="635" tIns="635" rIns="635" bIns="635" rtlCol="0" anchor="ctr"/>
          <a:lstStyle/>
          <a:p>
            <a:pPr marL="0" indent="0" algn="ctr">
              <a:buNone/>
            </a:pPr>
            <a:r>
              <a:rPr lang="en-US" sz="1150" b="1" dirty="0">
                <a:solidFill>
                  <a:srgbClr val="A78BFA"/>
                </a:solidFill>
                <a:latin typeface="Aptos" pitchFamily="34" charset="0"/>
                <a:ea typeface="Aptos" pitchFamily="34" charset="-122"/>
                <a:cs typeface="Aptos" pitchFamily="34" charset="-120"/>
              </a:rPr>
              <a:t>JavaScript</a:t>
            </a:r>
            <a:endParaRPr lang="en-US" sz="1150" dirty="0"/>
          </a:p>
        </p:txBody>
      </p:sp>
      <p:sp>
        <p:nvSpPr>
          <p:cNvPr id="20" name="Text 18"/>
          <p:cNvSpPr/>
          <p:nvPr/>
        </p:nvSpPr>
        <p:spPr>
          <a:xfrm>
            <a:off x="502920" y="6510528"/>
            <a:ext cx="594360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Opening slide for CS50x video requirements</a:t>
            </a:r>
            <a:endParaRPr lang="en-US" sz="8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a:t>
            </a:fld>
            <a:endParaRPr lang="en-US"/>
          </a:p>
        </p:txBody>
      </p:sp>
      <p:sp>
        <p:nvSpPr>
          <p:cNvPr id="21" name="Text 1">
            <a:extLst>
              <a:ext uri="{FF2B5EF4-FFF2-40B4-BE49-F238E27FC236}">
                <a16:creationId xmlns:a16="http://schemas.microsoft.com/office/drawing/2014/main" id="{277DE775-D65F-D7E2-C80A-6EDB630A0884}"/>
              </a:ext>
            </a:extLst>
          </p:cNvPr>
          <p:cNvSpPr/>
          <p:nvPr/>
        </p:nvSpPr>
        <p:spPr>
          <a:xfrm>
            <a:off x="640435" y="5120640"/>
            <a:ext cx="2572237" cy="376210"/>
          </a:xfrm>
          <a:prstGeom prst="rect">
            <a:avLst/>
          </a:prstGeom>
          <a:noFill/>
          <a:ln/>
        </p:spPr>
        <p:txBody>
          <a:bodyPr wrap="square" lIns="0" tIns="0" rIns="0" bIns="0" rtlCol="0" anchor="ctr"/>
          <a:lstStyle/>
          <a:p>
            <a:pPr marL="0" indent="0" algn="ctr">
              <a:buNone/>
            </a:pPr>
            <a:r>
              <a:rPr lang="en-US" sz="2000" i="1" dirty="0">
                <a:solidFill>
                  <a:schemeClr val="accent4">
                    <a:lumMod val="20000"/>
                    <a:lumOff val="80000"/>
                  </a:schemeClr>
                </a:solidFill>
                <a:latin typeface="Aptos" pitchFamily="34" charset="0"/>
                <a:ea typeface="Aptos" pitchFamily="34" charset="-122"/>
                <a:cs typeface="Aptos" pitchFamily="34" charset="-120"/>
                <a:hlinkClick r:id="rId3">
                  <a:extLst>
                    <a:ext uri="{A12FA001-AC4F-418D-AE19-62706E023703}">
                      <ahyp:hlinkClr xmlns:ahyp="http://schemas.microsoft.com/office/drawing/2018/hyperlinkcolor" val="tx"/>
                    </a:ext>
                  </a:extLst>
                </a:hlinkClick>
              </a:rPr>
              <a:t>www.sajjadsoykot.me</a:t>
            </a:r>
            <a:endParaRPr lang="en-US" sz="2000" i="1" dirty="0">
              <a:solidFill>
                <a:schemeClr val="accent4">
                  <a:lumMod val="20000"/>
                  <a:lumOff val="8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02920" y="320040"/>
            <a:ext cx="7132320" cy="384048"/>
          </a:xfrm>
          <a:prstGeom prst="rect">
            <a:avLst/>
          </a:prstGeom>
          <a:noFill/>
          <a:ln/>
        </p:spPr>
        <p:txBody>
          <a:bodyPr wrap="square" lIns="0" tIns="0" rIns="0" bIns="0" rtlCol="0" anchor="ctr"/>
          <a:lstStyle/>
          <a:p>
            <a:pPr marL="0" indent="0">
              <a:buNone/>
            </a:pPr>
            <a:r>
              <a:rPr lang="en-US" sz="2600" b="1" dirty="0">
                <a:solidFill>
                  <a:srgbClr val="F8FAFC"/>
                </a:solidFill>
                <a:latin typeface="Aptos Display" pitchFamily="34" charset="0"/>
                <a:ea typeface="Aptos Display" pitchFamily="34" charset="-122"/>
                <a:cs typeface="Aptos Display" pitchFamily="34" charset="-120"/>
              </a:rPr>
              <a:t>Why CodeType?</a:t>
            </a:r>
            <a:endParaRPr lang="en-US" sz="2600" dirty="0"/>
          </a:p>
        </p:txBody>
      </p:sp>
      <p:sp>
        <p:nvSpPr>
          <p:cNvPr id="3" name="Text 1"/>
          <p:cNvSpPr/>
          <p:nvPr/>
        </p:nvSpPr>
        <p:spPr>
          <a:xfrm>
            <a:off x="530352" y="749808"/>
            <a:ext cx="8046720" cy="228600"/>
          </a:xfrm>
          <a:prstGeom prst="rect">
            <a:avLst/>
          </a:prstGeom>
          <a:noFill/>
          <a:ln/>
        </p:spPr>
        <p:txBody>
          <a:bodyPr wrap="square" lIns="0" tIns="0" rIns="0" bIns="0" rtlCol="0" anchor="ctr"/>
          <a:lstStyle/>
          <a:p>
            <a:pPr marL="0" indent="0">
              <a:buNone/>
            </a:pPr>
            <a:r>
              <a:rPr lang="en-US" sz="1050" dirty="0">
                <a:solidFill>
                  <a:srgbClr val="94A3B8"/>
                </a:solidFill>
                <a:latin typeface="Aptos" pitchFamily="34" charset="0"/>
                <a:ea typeface="Aptos" pitchFamily="34" charset="-122"/>
                <a:cs typeface="Aptos" pitchFamily="34" charset="-120"/>
              </a:rPr>
              <a:t>Most typing sites train prose — programmers need punctuation, indentation, and syntax.</a:t>
            </a:r>
            <a:endParaRPr lang="en-US" sz="1050" dirty="0"/>
          </a:p>
        </p:txBody>
      </p:sp>
      <p:sp>
        <p:nvSpPr>
          <p:cNvPr id="4" name="Text 2"/>
          <p:cNvSpPr/>
          <p:nvPr/>
        </p:nvSpPr>
        <p:spPr>
          <a:xfrm>
            <a:off x="685800" y="1261872"/>
            <a:ext cx="2011680" cy="320040"/>
          </a:xfrm>
          <a:prstGeom prst="rect">
            <a:avLst/>
          </a:prstGeom>
          <a:noFill/>
          <a:ln/>
        </p:spPr>
        <p:txBody>
          <a:bodyPr wrap="square" lIns="0" tIns="0" rIns="0" bIns="0" rtlCol="0" anchor="ctr"/>
          <a:lstStyle/>
          <a:p>
            <a:pPr marL="0" indent="0">
              <a:buNone/>
            </a:pPr>
            <a:r>
              <a:rPr lang="en-US" sz="2300" b="1" dirty="0">
                <a:solidFill>
                  <a:srgbClr val="FB7185"/>
                </a:solidFill>
                <a:latin typeface="Aptos Display" pitchFamily="34" charset="0"/>
                <a:ea typeface="Aptos Display" pitchFamily="34" charset="-122"/>
                <a:cs typeface="Aptos Display" pitchFamily="34" charset="-120"/>
              </a:rPr>
              <a:t>Problem</a:t>
            </a:r>
            <a:endParaRPr lang="en-US" sz="2300" dirty="0"/>
          </a:p>
        </p:txBody>
      </p:sp>
      <p:sp>
        <p:nvSpPr>
          <p:cNvPr id="5" name="Text 3"/>
          <p:cNvSpPr/>
          <p:nvPr/>
        </p:nvSpPr>
        <p:spPr>
          <a:xfrm>
            <a:off x="685800" y="1783080"/>
            <a:ext cx="4572000" cy="932688"/>
          </a:xfrm>
          <a:prstGeom prst="rect">
            <a:avLst/>
          </a:prstGeom>
          <a:solidFill>
            <a:srgbClr val="111827"/>
          </a:solidFill>
          <a:ln>
            <a:solidFill>
              <a:srgbClr val="FB7185">
                <a:alpha val="70000"/>
              </a:srgbClr>
            </a:solidFill>
          </a:ln>
          <a:effectLst>
            <a:outerShdw blurRad="25400" dist="12700" dir="2700000" algn="bl" rotWithShape="0">
              <a:srgbClr val="000000">
                <a:alpha val="18000"/>
              </a:srgbClr>
            </a:outerShdw>
          </a:effectLst>
        </p:spPr>
        <p:txBody>
          <a:bodyPr wrap="square" lIns="2032" tIns="2032" rIns="2032" bIns="2032" rtlCol="0" anchor="ctr">
            <a:normAutofit/>
          </a:bodyPr>
          <a:lstStyle/>
          <a:p>
            <a:pPr marL="0" indent="0">
              <a:buNone/>
            </a:pPr>
            <a:r>
              <a:rPr lang="en-US" sz="1500" dirty="0">
                <a:solidFill>
                  <a:srgbClr val="F8FAFC"/>
                </a:solidFill>
                <a:latin typeface="Aptos" pitchFamily="34" charset="0"/>
                <a:ea typeface="Aptos" pitchFamily="34" charset="-122"/>
                <a:cs typeface="Aptos" pitchFamily="34" charset="-120"/>
              </a:rPr>
              <a:t>Ordinary typing practice</a:t>
            </a:r>
            <a:endParaRPr lang="en-US" sz="1500" dirty="0"/>
          </a:p>
          <a:p>
            <a:pPr marL="0" indent="0">
              <a:buNone/>
            </a:pPr>
            <a:r>
              <a:rPr lang="en-US" sz="1500" dirty="0">
                <a:solidFill>
                  <a:srgbClr val="F8FAFC"/>
                </a:solidFill>
                <a:latin typeface="Aptos" pitchFamily="34" charset="0"/>
                <a:ea typeface="Aptos" pitchFamily="34" charset="-122"/>
                <a:cs typeface="Aptos" pitchFamily="34" charset="-120"/>
              </a:rPr>
              <a:t>sentences · spaces · simple punctuation</a:t>
            </a:r>
            <a:endParaRPr lang="en-US" sz="1500" dirty="0"/>
          </a:p>
        </p:txBody>
      </p:sp>
      <p:sp>
        <p:nvSpPr>
          <p:cNvPr id="6" name="Text 4"/>
          <p:cNvSpPr/>
          <p:nvPr/>
        </p:nvSpPr>
        <p:spPr>
          <a:xfrm>
            <a:off x="685800" y="2907792"/>
            <a:ext cx="4572000" cy="932688"/>
          </a:xfrm>
          <a:prstGeom prst="rect">
            <a:avLst/>
          </a:prstGeom>
          <a:solidFill>
            <a:srgbClr val="111827"/>
          </a:solidFill>
          <a:ln>
            <a:solidFill>
              <a:srgbClr val="FB7185">
                <a:alpha val="70000"/>
              </a:srgbClr>
            </a:solidFill>
          </a:ln>
          <a:effectLst>
            <a:outerShdw blurRad="25400" dist="12700" dir="2700000" algn="bl" rotWithShape="0">
              <a:srgbClr val="000000">
                <a:alpha val="18000"/>
              </a:srgbClr>
            </a:outerShdw>
          </a:effectLst>
        </p:spPr>
        <p:txBody>
          <a:bodyPr wrap="square" lIns="2032" tIns="2032" rIns="2032" bIns="2032" rtlCol="0" anchor="ctr">
            <a:normAutofit/>
          </a:bodyPr>
          <a:lstStyle/>
          <a:p>
            <a:pPr marL="0" indent="0">
              <a:buNone/>
            </a:pPr>
            <a:r>
              <a:rPr lang="en-US" sz="1500" dirty="0">
                <a:solidFill>
                  <a:srgbClr val="F8FAFC"/>
                </a:solidFill>
                <a:latin typeface="Aptos" pitchFamily="34" charset="0"/>
                <a:ea typeface="Aptos" pitchFamily="34" charset="-122"/>
                <a:cs typeface="Aptos" pitchFamily="34" charset="-120"/>
              </a:rPr>
              <a:t>Programming typing</a:t>
            </a:r>
            <a:endParaRPr lang="en-US" sz="1500" dirty="0"/>
          </a:p>
          <a:p>
            <a:pPr marL="0" indent="0">
              <a:buNone/>
            </a:pPr>
            <a:r>
              <a:rPr lang="en-US" sz="1500" dirty="0">
                <a:solidFill>
                  <a:srgbClr val="F8FAFC"/>
                </a:solidFill>
                <a:latin typeface="Aptos" pitchFamily="34" charset="0"/>
                <a:ea typeface="Aptos" pitchFamily="34" charset="-122"/>
                <a:cs typeface="Aptos" pitchFamily="34" charset="-120"/>
              </a:rPr>
              <a:t>brackets · semicolons · operators · exact indentation</a:t>
            </a:r>
            <a:endParaRPr lang="en-US" sz="1500" dirty="0"/>
          </a:p>
        </p:txBody>
      </p:sp>
      <p:sp>
        <p:nvSpPr>
          <p:cNvPr id="7" name="Text 5"/>
          <p:cNvSpPr/>
          <p:nvPr/>
        </p:nvSpPr>
        <p:spPr>
          <a:xfrm>
            <a:off x="685800" y="4032504"/>
            <a:ext cx="4572000" cy="932688"/>
          </a:xfrm>
          <a:prstGeom prst="rect">
            <a:avLst/>
          </a:prstGeom>
          <a:solidFill>
            <a:srgbClr val="111827"/>
          </a:solidFill>
          <a:ln>
            <a:solidFill>
              <a:srgbClr val="FB7185">
                <a:alpha val="70000"/>
              </a:srgbClr>
            </a:solidFill>
          </a:ln>
          <a:effectLst>
            <a:outerShdw blurRad="25400" dist="12700" dir="2700000" algn="bl" rotWithShape="0">
              <a:srgbClr val="000000">
                <a:alpha val="18000"/>
              </a:srgbClr>
            </a:outerShdw>
          </a:effectLst>
        </p:spPr>
        <p:txBody>
          <a:bodyPr wrap="square" lIns="2032" tIns="2032" rIns="2032" bIns="2032" rtlCol="0" anchor="ctr">
            <a:normAutofit/>
          </a:bodyPr>
          <a:lstStyle/>
          <a:p>
            <a:pPr marL="0" indent="0">
              <a:buNone/>
            </a:pPr>
            <a:r>
              <a:rPr lang="en-US" sz="1500" dirty="0">
                <a:solidFill>
                  <a:srgbClr val="F8FAFC"/>
                </a:solidFill>
                <a:latin typeface="Aptos" pitchFamily="34" charset="0"/>
                <a:ea typeface="Aptos" pitchFamily="34" charset="-122"/>
                <a:cs typeface="Aptos" pitchFamily="34" charset="-120"/>
              </a:rPr>
              <a:t>Mistakes matter</a:t>
            </a:r>
            <a:endParaRPr lang="en-US" sz="1500" dirty="0"/>
          </a:p>
          <a:p>
            <a:pPr marL="0" indent="0">
              <a:buNone/>
            </a:pPr>
            <a:r>
              <a:rPr lang="en-US" sz="1500" dirty="0">
                <a:solidFill>
                  <a:srgbClr val="F8FAFC"/>
                </a:solidFill>
                <a:latin typeface="Aptos" pitchFamily="34" charset="0"/>
                <a:ea typeface="Aptos" pitchFamily="34" charset="-122"/>
                <a:cs typeface="Aptos" pitchFamily="34" charset="-120"/>
              </a:rPr>
              <a:t>a single missing character can break real code</a:t>
            </a:r>
            <a:endParaRPr lang="en-US" sz="1500" dirty="0"/>
          </a:p>
        </p:txBody>
      </p:sp>
      <p:sp>
        <p:nvSpPr>
          <p:cNvPr id="8" name="Text 6"/>
          <p:cNvSpPr/>
          <p:nvPr/>
        </p:nvSpPr>
        <p:spPr>
          <a:xfrm>
            <a:off x="6400800" y="1261872"/>
            <a:ext cx="2103120" cy="320040"/>
          </a:xfrm>
          <a:prstGeom prst="rect">
            <a:avLst/>
          </a:prstGeom>
          <a:noFill/>
          <a:ln/>
        </p:spPr>
        <p:txBody>
          <a:bodyPr wrap="square" lIns="0" tIns="0" rIns="0" bIns="0" rtlCol="0" anchor="ctr"/>
          <a:lstStyle/>
          <a:p>
            <a:pPr marL="0" indent="0">
              <a:buNone/>
            </a:pPr>
            <a:r>
              <a:rPr lang="en-US" sz="2300" b="1" dirty="0">
                <a:solidFill>
                  <a:srgbClr val="4ADE80"/>
                </a:solidFill>
                <a:latin typeface="Aptos Display" pitchFamily="34" charset="0"/>
                <a:ea typeface="Aptos Display" pitchFamily="34" charset="-122"/>
                <a:cs typeface="Aptos Display" pitchFamily="34" charset="-120"/>
              </a:rPr>
              <a:t>Solution</a:t>
            </a:r>
            <a:endParaRPr lang="en-US" sz="2300" dirty="0"/>
          </a:p>
        </p:txBody>
      </p:sp>
      <p:sp>
        <p:nvSpPr>
          <p:cNvPr id="9" name="Text 7"/>
          <p:cNvSpPr/>
          <p:nvPr/>
        </p:nvSpPr>
        <p:spPr>
          <a:xfrm>
            <a:off x="6400800" y="1792224"/>
            <a:ext cx="4480560" cy="1005840"/>
          </a:xfrm>
          <a:prstGeom prst="rect">
            <a:avLst/>
          </a:prstGeom>
          <a:noFill/>
          <a:ln/>
        </p:spPr>
        <p:txBody>
          <a:bodyPr wrap="square" lIns="381" tIns="381" rIns="381" bIns="381" rtlCol="0" anchor="ctr">
            <a:normAutofit lnSpcReduction="10000"/>
          </a:bodyPr>
          <a:lstStyle/>
          <a:p>
            <a:pPr marL="0" indent="0">
              <a:buNone/>
            </a:pPr>
            <a:r>
              <a:rPr lang="en-US" sz="1700" dirty="0">
                <a:solidFill>
                  <a:srgbClr val="F8FAFC"/>
                </a:solidFill>
                <a:latin typeface="Aptos" pitchFamily="34" charset="0"/>
                <a:ea typeface="Aptos" pitchFamily="34" charset="-122"/>
                <a:cs typeface="Aptos" pitchFamily="34" charset="-120"/>
              </a:rPr>
              <a:t>CodeType gives users short, real code snippets and measures speed, accuracy, mistakes, and completion time while saving progress for later review.</a:t>
            </a:r>
            <a:endParaRPr lang="en-US" sz="1700" dirty="0"/>
          </a:p>
        </p:txBody>
      </p:sp>
      <p:sp>
        <p:nvSpPr>
          <p:cNvPr id="10" name="Text 8"/>
          <p:cNvSpPr/>
          <p:nvPr/>
        </p:nvSpPr>
        <p:spPr>
          <a:xfrm>
            <a:off x="6400800" y="3090672"/>
            <a:ext cx="2560320" cy="228600"/>
          </a:xfrm>
          <a:prstGeom prst="rect">
            <a:avLst/>
          </a:prstGeom>
          <a:noFill/>
          <a:ln/>
        </p:spPr>
        <p:txBody>
          <a:bodyPr wrap="square" lIns="0" tIns="0" rIns="0" bIns="0" rtlCol="0" anchor="ctr"/>
          <a:lstStyle/>
          <a:p>
            <a:pPr marL="0" indent="0">
              <a:buNone/>
            </a:pPr>
            <a:r>
              <a:rPr lang="en-US" sz="1150" dirty="0">
                <a:solidFill>
                  <a:srgbClr val="94A3B8"/>
                </a:solidFill>
                <a:latin typeface="Aptos" pitchFamily="34" charset="0"/>
                <a:ea typeface="Aptos" pitchFamily="34" charset="-122"/>
                <a:cs typeface="Aptos" pitchFamily="34" charset="-120"/>
              </a:rPr>
              <a:t>Languages supported</a:t>
            </a:r>
            <a:endParaRPr lang="en-US" sz="1150" dirty="0"/>
          </a:p>
        </p:txBody>
      </p:sp>
      <p:sp>
        <p:nvSpPr>
          <p:cNvPr id="11" name="Text 9"/>
          <p:cNvSpPr/>
          <p:nvPr/>
        </p:nvSpPr>
        <p:spPr>
          <a:xfrm>
            <a:off x="6400800" y="3456432"/>
            <a:ext cx="566928" cy="320040"/>
          </a:xfrm>
          <a:prstGeom prst="rect">
            <a:avLst/>
          </a:prstGeom>
          <a:solidFill>
            <a:srgbClr val="0F172A"/>
          </a:solidFill>
          <a:ln>
            <a:solidFill>
              <a:srgbClr val="60A5FA">
                <a:alpha val="70000"/>
              </a:srgbClr>
            </a:solidFill>
          </a:ln>
        </p:spPr>
        <p:txBody>
          <a:bodyPr wrap="square" lIns="635" tIns="635" rIns="635" bIns="635" rtlCol="0" anchor="ctr"/>
          <a:lstStyle/>
          <a:p>
            <a:pPr marL="0" indent="0" algn="ctr">
              <a:buNone/>
            </a:pPr>
            <a:r>
              <a:rPr lang="en-US" sz="1150" b="1" dirty="0">
                <a:solidFill>
                  <a:srgbClr val="60A5FA"/>
                </a:solidFill>
                <a:latin typeface="Aptos" pitchFamily="34" charset="0"/>
                <a:ea typeface="Aptos" pitchFamily="34" charset="-122"/>
                <a:cs typeface="Aptos" pitchFamily="34" charset="-120"/>
              </a:rPr>
              <a:t>C</a:t>
            </a:r>
            <a:endParaRPr lang="en-US" sz="1150" dirty="0"/>
          </a:p>
        </p:txBody>
      </p:sp>
      <p:sp>
        <p:nvSpPr>
          <p:cNvPr id="12" name="Text 10"/>
          <p:cNvSpPr/>
          <p:nvPr/>
        </p:nvSpPr>
        <p:spPr>
          <a:xfrm>
            <a:off x="7132320" y="3456432"/>
            <a:ext cx="1005840" cy="320040"/>
          </a:xfrm>
          <a:prstGeom prst="rect">
            <a:avLst/>
          </a:prstGeom>
          <a:solidFill>
            <a:srgbClr val="0F172A"/>
          </a:solidFill>
          <a:ln>
            <a:solidFill>
              <a:srgbClr val="4ADE80">
                <a:alpha val="70000"/>
              </a:srgbClr>
            </a:solidFill>
          </a:ln>
        </p:spPr>
        <p:txBody>
          <a:bodyPr wrap="square" lIns="635" tIns="635" rIns="635" bIns="635" rtlCol="0" anchor="ctr"/>
          <a:lstStyle/>
          <a:p>
            <a:pPr marL="0" indent="0" algn="ctr">
              <a:buNone/>
            </a:pPr>
            <a:r>
              <a:rPr lang="en-US" sz="1150" b="1" dirty="0">
                <a:solidFill>
                  <a:srgbClr val="4ADE80"/>
                </a:solidFill>
                <a:latin typeface="Aptos" pitchFamily="34" charset="0"/>
                <a:ea typeface="Aptos" pitchFamily="34" charset="-122"/>
                <a:cs typeface="Aptos" pitchFamily="34" charset="-120"/>
              </a:rPr>
              <a:t>Python</a:t>
            </a:r>
            <a:endParaRPr lang="en-US" sz="1150" dirty="0"/>
          </a:p>
        </p:txBody>
      </p:sp>
      <p:sp>
        <p:nvSpPr>
          <p:cNvPr id="13" name="Text 11"/>
          <p:cNvSpPr/>
          <p:nvPr/>
        </p:nvSpPr>
        <p:spPr>
          <a:xfrm>
            <a:off x="8321040" y="3456432"/>
            <a:ext cx="749808" cy="320040"/>
          </a:xfrm>
          <a:prstGeom prst="rect">
            <a:avLst/>
          </a:prstGeom>
          <a:solidFill>
            <a:srgbClr val="0F172A"/>
          </a:solidFill>
          <a:ln>
            <a:solidFill>
              <a:srgbClr val="FBBF24">
                <a:alpha val="70000"/>
              </a:srgbClr>
            </a:solidFill>
          </a:ln>
        </p:spPr>
        <p:txBody>
          <a:bodyPr wrap="square" lIns="635" tIns="635" rIns="635" bIns="635" rtlCol="0" anchor="ctr"/>
          <a:lstStyle/>
          <a:p>
            <a:pPr marL="0" indent="0" algn="ctr">
              <a:buNone/>
            </a:pPr>
            <a:r>
              <a:rPr lang="en-US" sz="1150" b="1" dirty="0">
                <a:solidFill>
                  <a:srgbClr val="FBBF24"/>
                </a:solidFill>
                <a:latin typeface="Aptos" pitchFamily="34" charset="0"/>
                <a:ea typeface="Aptos" pitchFamily="34" charset="-122"/>
                <a:cs typeface="Aptos" pitchFamily="34" charset="-120"/>
              </a:rPr>
              <a:t>SQL</a:t>
            </a:r>
            <a:endParaRPr lang="en-US" sz="1150" dirty="0"/>
          </a:p>
        </p:txBody>
      </p:sp>
      <p:sp>
        <p:nvSpPr>
          <p:cNvPr id="14" name="Text 12"/>
          <p:cNvSpPr/>
          <p:nvPr/>
        </p:nvSpPr>
        <p:spPr>
          <a:xfrm>
            <a:off x="9235440" y="3456432"/>
            <a:ext cx="841248" cy="320040"/>
          </a:xfrm>
          <a:prstGeom prst="rect">
            <a:avLst/>
          </a:prstGeom>
          <a:solidFill>
            <a:srgbClr val="0F172A"/>
          </a:solidFill>
          <a:ln>
            <a:solidFill>
              <a:srgbClr val="FB7185">
                <a:alpha val="70000"/>
              </a:srgbClr>
            </a:solidFill>
          </a:ln>
        </p:spPr>
        <p:txBody>
          <a:bodyPr wrap="square" lIns="635" tIns="635" rIns="635" bIns="635" rtlCol="0" anchor="ctr"/>
          <a:lstStyle/>
          <a:p>
            <a:pPr marL="0" indent="0" algn="ctr">
              <a:buNone/>
            </a:pPr>
            <a:r>
              <a:rPr lang="en-US" sz="1150" b="1" dirty="0">
                <a:solidFill>
                  <a:srgbClr val="FB7185"/>
                </a:solidFill>
                <a:latin typeface="Aptos" pitchFamily="34" charset="0"/>
                <a:ea typeface="Aptos" pitchFamily="34" charset="-122"/>
                <a:cs typeface="Aptos" pitchFamily="34" charset="-120"/>
              </a:rPr>
              <a:t>HTML</a:t>
            </a:r>
            <a:endParaRPr lang="en-US" sz="1150" dirty="0"/>
          </a:p>
        </p:txBody>
      </p:sp>
      <p:sp>
        <p:nvSpPr>
          <p:cNvPr id="15" name="Text 13"/>
          <p:cNvSpPr/>
          <p:nvPr/>
        </p:nvSpPr>
        <p:spPr>
          <a:xfrm>
            <a:off x="10241280" y="3456432"/>
            <a:ext cx="1234440" cy="320040"/>
          </a:xfrm>
          <a:prstGeom prst="rect">
            <a:avLst/>
          </a:prstGeom>
          <a:solidFill>
            <a:srgbClr val="0F172A"/>
          </a:solidFill>
          <a:ln>
            <a:solidFill>
              <a:srgbClr val="A78BFA">
                <a:alpha val="70000"/>
              </a:srgbClr>
            </a:solidFill>
          </a:ln>
        </p:spPr>
        <p:txBody>
          <a:bodyPr wrap="square" lIns="635" tIns="635" rIns="635" bIns="635" rtlCol="0" anchor="ctr"/>
          <a:lstStyle/>
          <a:p>
            <a:pPr marL="0" indent="0" algn="ctr">
              <a:buNone/>
            </a:pPr>
            <a:r>
              <a:rPr lang="en-US" sz="1150" b="1" dirty="0">
                <a:solidFill>
                  <a:srgbClr val="A78BFA"/>
                </a:solidFill>
                <a:latin typeface="Aptos" pitchFamily="34" charset="0"/>
                <a:ea typeface="Aptos" pitchFamily="34" charset="-122"/>
                <a:cs typeface="Aptos" pitchFamily="34" charset="-120"/>
              </a:rPr>
              <a:t>JavaScript</a:t>
            </a:r>
            <a:endParaRPr lang="en-US" sz="1150" dirty="0"/>
          </a:p>
        </p:txBody>
      </p:sp>
      <p:sp>
        <p:nvSpPr>
          <p:cNvPr id="16" name="Text 14"/>
          <p:cNvSpPr/>
          <p:nvPr/>
        </p:nvSpPr>
        <p:spPr>
          <a:xfrm>
            <a:off x="6400800" y="4343400"/>
            <a:ext cx="1645920" cy="237744"/>
          </a:xfrm>
          <a:prstGeom prst="rect">
            <a:avLst/>
          </a:prstGeom>
          <a:noFill/>
          <a:ln/>
        </p:spPr>
        <p:txBody>
          <a:bodyPr wrap="square" lIns="0" tIns="0" rIns="0" bIns="0" rtlCol="0" anchor="ctr"/>
          <a:lstStyle/>
          <a:p>
            <a:pPr marL="0" indent="0">
              <a:buNone/>
            </a:pPr>
            <a:r>
              <a:rPr lang="en-US" sz="1150" dirty="0">
                <a:solidFill>
                  <a:srgbClr val="94A3B8"/>
                </a:solidFill>
                <a:latin typeface="Aptos" pitchFamily="34" charset="0"/>
                <a:ea typeface="Aptos" pitchFamily="34" charset="-122"/>
                <a:cs typeface="Aptos" pitchFamily="34" charset="-120"/>
              </a:rPr>
              <a:t>Core idea</a:t>
            </a:r>
            <a:endParaRPr lang="en-US" sz="1150" dirty="0"/>
          </a:p>
        </p:txBody>
      </p:sp>
      <p:sp>
        <p:nvSpPr>
          <p:cNvPr id="17" name="Text 15"/>
          <p:cNvSpPr/>
          <p:nvPr/>
        </p:nvSpPr>
        <p:spPr>
          <a:xfrm>
            <a:off x="6400800" y="4681728"/>
            <a:ext cx="4663440" cy="548640"/>
          </a:xfrm>
          <a:prstGeom prst="rect">
            <a:avLst/>
          </a:prstGeom>
          <a:noFill/>
          <a:ln/>
        </p:spPr>
        <p:txBody>
          <a:bodyPr wrap="square" lIns="0" tIns="0" rIns="0" bIns="0" rtlCol="0" anchor="ctr">
            <a:normAutofit fontScale="92500" lnSpcReduction="10000"/>
          </a:bodyPr>
          <a:lstStyle/>
          <a:p>
            <a:pPr marL="0" indent="0">
              <a:buNone/>
            </a:pPr>
            <a:r>
              <a:rPr lang="en-US" sz="2000" b="1" dirty="0">
                <a:solidFill>
                  <a:srgbClr val="22D3EE"/>
                </a:solidFill>
                <a:latin typeface="Aptos Display" pitchFamily="34" charset="0"/>
                <a:ea typeface="Aptos Display" pitchFamily="34" charset="-122"/>
                <a:cs typeface="Aptos Display" pitchFamily="34" charset="-120"/>
              </a:rPr>
              <a:t>Type code exactly → compare characters → compute metrics → save attempt</a:t>
            </a:r>
            <a:endParaRPr lang="en-US" sz="2000" dirty="0"/>
          </a:p>
        </p:txBody>
      </p:sp>
      <p:sp>
        <p:nvSpPr>
          <p:cNvPr id="18" name="Text 16"/>
          <p:cNvSpPr/>
          <p:nvPr/>
        </p:nvSpPr>
        <p:spPr>
          <a:xfrm>
            <a:off x="502920" y="6510528"/>
            <a:ext cx="594360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CodeType · CS50x Final Project</a:t>
            </a:r>
            <a:endParaRPr lang="en-US" sz="8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02920" y="320040"/>
            <a:ext cx="7132320" cy="384048"/>
          </a:xfrm>
          <a:prstGeom prst="rect">
            <a:avLst/>
          </a:prstGeom>
          <a:noFill/>
          <a:ln/>
        </p:spPr>
        <p:txBody>
          <a:bodyPr wrap="square" lIns="0" tIns="0" rIns="0" bIns="0" rtlCol="0" anchor="ctr"/>
          <a:lstStyle/>
          <a:p>
            <a:pPr marL="0" indent="0">
              <a:buNone/>
            </a:pPr>
            <a:r>
              <a:rPr lang="en-US" sz="3200" b="1" dirty="0">
                <a:solidFill>
                  <a:srgbClr val="F8FAFC"/>
                </a:solidFill>
                <a:latin typeface="Aptos Display" pitchFamily="34" charset="0"/>
                <a:ea typeface="Aptos Display" pitchFamily="34" charset="-122"/>
                <a:cs typeface="Aptos Display" pitchFamily="34" charset="-120"/>
              </a:rPr>
              <a:t>Demo Flow</a:t>
            </a:r>
            <a:endParaRPr lang="en-US" sz="3200" dirty="0"/>
          </a:p>
        </p:txBody>
      </p:sp>
      <p:sp>
        <p:nvSpPr>
          <p:cNvPr id="3" name="Text 1"/>
          <p:cNvSpPr/>
          <p:nvPr/>
        </p:nvSpPr>
        <p:spPr>
          <a:xfrm>
            <a:off x="530352" y="749808"/>
            <a:ext cx="8046720" cy="228600"/>
          </a:xfrm>
          <a:prstGeom prst="rect">
            <a:avLst/>
          </a:prstGeom>
          <a:noFill/>
          <a:ln/>
        </p:spPr>
        <p:txBody>
          <a:bodyPr wrap="square" lIns="0" tIns="0" rIns="0" bIns="0" rtlCol="0" anchor="ctr"/>
          <a:lstStyle/>
          <a:p>
            <a:pPr marL="0" indent="0">
              <a:buNone/>
            </a:pPr>
            <a:r>
              <a:rPr lang="en-US" sz="1050" dirty="0">
                <a:solidFill>
                  <a:srgbClr val="94A3B8"/>
                </a:solidFill>
                <a:latin typeface="Aptos" pitchFamily="34" charset="0"/>
                <a:ea typeface="Aptos" pitchFamily="34" charset="-122"/>
                <a:cs typeface="Aptos" pitchFamily="34" charset="-120"/>
              </a:rPr>
              <a:t>A simple path from language selection to saved history.</a:t>
            </a:r>
            <a:endParaRPr lang="en-US" sz="1050" dirty="0"/>
          </a:p>
        </p:txBody>
      </p:sp>
      <p:sp>
        <p:nvSpPr>
          <p:cNvPr id="4" name="Shape 2"/>
          <p:cNvSpPr/>
          <p:nvPr/>
        </p:nvSpPr>
        <p:spPr>
          <a:xfrm>
            <a:off x="2221992" y="2304288"/>
            <a:ext cx="841248" cy="0"/>
          </a:xfrm>
          <a:prstGeom prst="line">
            <a:avLst/>
          </a:prstGeom>
          <a:noFill/>
          <a:ln w="16510">
            <a:solidFill>
              <a:srgbClr val="22D3EE"/>
            </a:solidFill>
            <a:prstDash val="solid"/>
            <a:headEnd type="none"/>
            <a:tailEnd type="triangle"/>
          </a:ln>
        </p:spPr>
      </p:sp>
      <p:sp>
        <p:nvSpPr>
          <p:cNvPr id="5" name="Shape 3"/>
          <p:cNvSpPr/>
          <p:nvPr/>
        </p:nvSpPr>
        <p:spPr>
          <a:xfrm>
            <a:off x="4754880" y="2304288"/>
            <a:ext cx="850392" cy="0"/>
          </a:xfrm>
          <a:prstGeom prst="line">
            <a:avLst/>
          </a:prstGeom>
          <a:noFill/>
          <a:ln w="16510">
            <a:solidFill>
              <a:srgbClr val="22D3EE"/>
            </a:solidFill>
            <a:prstDash val="solid"/>
            <a:headEnd type="none"/>
            <a:tailEnd type="triangle"/>
          </a:ln>
        </p:spPr>
      </p:sp>
      <p:sp>
        <p:nvSpPr>
          <p:cNvPr id="6" name="Shape 4"/>
          <p:cNvSpPr/>
          <p:nvPr/>
        </p:nvSpPr>
        <p:spPr>
          <a:xfrm>
            <a:off x="7296912" y="2304288"/>
            <a:ext cx="859536" cy="0"/>
          </a:xfrm>
          <a:prstGeom prst="line">
            <a:avLst/>
          </a:prstGeom>
          <a:noFill/>
          <a:ln w="16510">
            <a:solidFill>
              <a:srgbClr val="22D3EE"/>
            </a:solidFill>
            <a:prstDash val="solid"/>
            <a:headEnd type="none"/>
            <a:tailEnd type="triangle"/>
          </a:ln>
        </p:spPr>
      </p:sp>
      <p:sp>
        <p:nvSpPr>
          <p:cNvPr id="7" name="Shape 5"/>
          <p:cNvSpPr/>
          <p:nvPr/>
        </p:nvSpPr>
        <p:spPr>
          <a:xfrm>
            <a:off x="9848088" y="2304288"/>
            <a:ext cx="438912" cy="0"/>
          </a:xfrm>
          <a:prstGeom prst="line">
            <a:avLst/>
          </a:prstGeom>
          <a:noFill/>
          <a:ln w="16510">
            <a:solidFill>
              <a:srgbClr val="22D3EE"/>
            </a:solidFill>
            <a:prstDash val="solid"/>
            <a:headEnd type="none"/>
            <a:tailEnd type="triangle"/>
          </a:ln>
        </p:spPr>
      </p:sp>
      <p:sp>
        <p:nvSpPr>
          <p:cNvPr id="8" name="Text 6"/>
          <p:cNvSpPr/>
          <p:nvPr/>
        </p:nvSpPr>
        <p:spPr>
          <a:xfrm>
            <a:off x="713232" y="1572768"/>
            <a:ext cx="1536192" cy="1463040"/>
          </a:xfrm>
          <a:prstGeom prst="rect">
            <a:avLst/>
          </a:prstGeom>
          <a:solidFill>
            <a:srgbClr val="172033"/>
          </a:solidFill>
          <a:ln w="16510">
            <a:solidFill>
              <a:srgbClr val="60A5FA"/>
            </a:solidFill>
          </a:ln>
        </p:spPr>
        <p:txBody>
          <a:bodyPr wrap="square" lIns="1651" tIns="1651" rIns="1651" bIns="1651" rtlCol="0" anchor="ctr">
            <a:normAutofit/>
          </a:bodyPr>
          <a:lstStyle/>
          <a:p>
            <a:pPr marL="0" indent="0" algn="ctr">
              <a:buNone/>
            </a:pPr>
            <a:r>
              <a:rPr lang="en-US" sz="1280" dirty="0">
                <a:solidFill>
                  <a:srgbClr val="F8FAFC"/>
                </a:solidFill>
                <a:latin typeface="Aptos" pitchFamily="34" charset="0"/>
                <a:ea typeface="Aptos" pitchFamily="34" charset="-122"/>
                <a:cs typeface="Aptos" pitchFamily="34" charset="-120"/>
              </a:rPr>
              <a:t>1. Select</a:t>
            </a:r>
            <a:endParaRPr lang="en-US" sz="1280" dirty="0"/>
          </a:p>
          <a:p>
            <a:pPr marL="0" indent="0" algn="ctr">
              <a:buNone/>
            </a:pPr>
            <a:r>
              <a:rPr lang="en-US" sz="1280" dirty="0">
                <a:solidFill>
                  <a:srgbClr val="F8FAFC"/>
                </a:solidFill>
                <a:latin typeface="Aptos" pitchFamily="34" charset="0"/>
                <a:ea typeface="Aptos" pitchFamily="34" charset="-122"/>
                <a:cs typeface="Aptos" pitchFamily="34" charset="-120"/>
              </a:rPr>
              <a:t>language + difficulty</a:t>
            </a:r>
            <a:endParaRPr lang="en-US" sz="1280" dirty="0"/>
          </a:p>
        </p:txBody>
      </p:sp>
      <p:sp>
        <p:nvSpPr>
          <p:cNvPr id="9" name="Text 7"/>
          <p:cNvSpPr/>
          <p:nvPr/>
        </p:nvSpPr>
        <p:spPr>
          <a:xfrm>
            <a:off x="3081528" y="1572768"/>
            <a:ext cx="1700784" cy="1463040"/>
          </a:xfrm>
          <a:prstGeom prst="rect">
            <a:avLst/>
          </a:prstGeom>
          <a:solidFill>
            <a:srgbClr val="172033"/>
          </a:solidFill>
          <a:ln w="16510">
            <a:solidFill>
              <a:srgbClr val="4ADE80"/>
            </a:solidFill>
          </a:ln>
        </p:spPr>
        <p:txBody>
          <a:bodyPr wrap="square" lIns="1651" tIns="1651" rIns="1651" bIns="1651" rtlCol="0" anchor="ctr">
            <a:normAutofit/>
          </a:bodyPr>
          <a:lstStyle/>
          <a:p>
            <a:pPr marL="0" indent="0" algn="ctr">
              <a:buNone/>
            </a:pPr>
            <a:r>
              <a:rPr lang="en-US" sz="1280" dirty="0">
                <a:solidFill>
                  <a:srgbClr val="F8FAFC"/>
                </a:solidFill>
                <a:latin typeface="Aptos" pitchFamily="34" charset="0"/>
                <a:ea typeface="Aptos" pitchFamily="34" charset="-122"/>
                <a:cs typeface="Aptos" pitchFamily="34" charset="-120"/>
              </a:rPr>
              <a:t>2. Type</a:t>
            </a:r>
            <a:endParaRPr lang="en-US" sz="1280" dirty="0"/>
          </a:p>
          <a:p>
            <a:pPr marL="0" indent="0" algn="ctr">
              <a:buNone/>
            </a:pPr>
            <a:r>
              <a:rPr lang="en-US" sz="1280" dirty="0">
                <a:solidFill>
                  <a:srgbClr val="F8FAFC"/>
                </a:solidFill>
                <a:latin typeface="Aptos" pitchFamily="34" charset="0"/>
                <a:ea typeface="Aptos" pitchFamily="34" charset="-122"/>
                <a:cs typeface="Aptos" pitchFamily="34" charset="-120"/>
              </a:rPr>
              <a:t>real code snippet</a:t>
            </a:r>
            <a:endParaRPr lang="en-US" sz="1280" dirty="0"/>
          </a:p>
        </p:txBody>
      </p:sp>
      <p:sp>
        <p:nvSpPr>
          <p:cNvPr id="10" name="Text 8"/>
          <p:cNvSpPr/>
          <p:nvPr/>
        </p:nvSpPr>
        <p:spPr>
          <a:xfrm>
            <a:off x="5623560" y="1572768"/>
            <a:ext cx="1700784" cy="1463040"/>
          </a:xfrm>
          <a:prstGeom prst="rect">
            <a:avLst/>
          </a:prstGeom>
          <a:solidFill>
            <a:srgbClr val="172033"/>
          </a:solidFill>
          <a:ln w="16510">
            <a:solidFill>
              <a:srgbClr val="FBBF24"/>
            </a:solidFill>
          </a:ln>
        </p:spPr>
        <p:txBody>
          <a:bodyPr wrap="square" lIns="1651" tIns="1651" rIns="1651" bIns="1651" rtlCol="0" anchor="ctr">
            <a:normAutofit/>
          </a:bodyPr>
          <a:lstStyle/>
          <a:p>
            <a:pPr marL="0" indent="0" algn="ctr">
              <a:buNone/>
            </a:pPr>
            <a:r>
              <a:rPr lang="en-US" sz="1280" dirty="0">
                <a:solidFill>
                  <a:srgbClr val="F8FAFC"/>
                </a:solidFill>
                <a:latin typeface="Aptos" pitchFamily="34" charset="0"/>
                <a:ea typeface="Aptos" pitchFamily="34" charset="-122"/>
                <a:cs typeface="Aptos" pitchFamily="34" charset="-120"/>
              </a:rPr>
              <a:t>3. Measure</a:t>
            </a:r>
            <a:endParaRPr lang="en-US" sz="1280" dirty="0"/>
          </a:p>
          <a:p>
            <a:pPr marL="0" indent="0" algn="ctr">
              <a:buNone/>
            </a:pPr>
            <a:r>
              <a:rPr lang="en-US" sz="1280" dirty="0">
                <a:solidFill>
                  <a:srgbClr val="F8FAFC"/>
                </a:solidFill>
                <a:latin typeface="Aptos" pitchFamily="34" charset="0"/>
                <a:ea typeface="Aptos" pitchFamily="34" charset="-122"/>
                <a:cs typeface="Aptos" pitchFamily="34" charset="-120"/>
              </a:rPr>
              <a:t>time · WPM · accuracy</a:t>
            </a:r>
            <a:endParaRPr lang="en-US" sz="1280" dirty="0"/>
          </a:p>
        </p:txBody>
      </p:sp>
      <p:sp>
        <p:nvSpPr>
          <p:cNvPr id="11" name="Text 9"/>
          <p:cNvSpPr/>
          <p:nvPr/>
        </p:nvSpPr>
        <p:spPr>
          <a:xfrm>
            <a:off x="8174736" y="1572768"/>
            <a:ext cx="1700784" cy="1463040"/>
          </a:xfrm>
          <a:prstGeom prst="rect">
            <a:avLst/>
          </a:prstGeom>
          <a:solidFill>
            <a:srgbClr val="172033"/>
          </a:solidFill>
          <a:ln w="16510">
            <a:solidFill>
              <a:srgbClr val="A78BFA"/>
            </a:solidFill>
          </a:ln>
        </p:spPr>
        <p:txBody>
          <a:bodyPr wrap="square" lIns="1651" tIns="1651" rIns="1651" bIns="1651" rtlCol="0" anchor="ctr">
            <a:normAutofit/>
          </a:bodyPr>
          <a:lstStyle/>
          <a:p>
            <a:pPr marL="0" indent="0" algn="ctr">
              <a:buNone/>
            </a:pPr>
            <a:r>
              <a:rPr lang="en-US" sz="1280" dirty="0">
                <a:solidFill>
                  <a:srgbClr val="F8FAFC"/>
                </a:solidFill>
                <a:latin typeface="Aptos" pitchFamily="34" charset="0"/>
                <a:ea typeface="Aptos" pitchFamily="34" charset="-122"/>
                <a:cs typeface="Aptos" pitchFamily="34" charset="-120"/>
              </a:rPr>
              <a:t>4. Save</a:t>
            </a:r>
            <a:endParaRPr lang="en-US" sz="1280" dirty="0"/>
          </a:p>
          <a:p>
            <a:pPr marL="0" indent="0" algn="ctr">
              <a:buNone/>
            </a:pPr>
            <a:r>
              <a:rPr lang="en-US" sz="1280" dirty="0">
                <a:solidFill>
                  <a:srgbClr val="F8FAFC"/>
                </a:solidFill>
                <a:latin typeface="Aptos" pitchFamily="34" charset="0"/>
                <a:ea typeface="Aptos" pitchFamily="34" charset="-122"/>
                <a:cs typeface="Aptos" pitchFamily="34" charset="-120"/>
              </a:rPr>
              <a:t>attempt to SQLite</a:t>
            </a:r>
            <a:endParaRPr lang="en-US" sz="1280" dirty="0"/>
          </a:p>
        </p:txBody>
      </p:sp>
      <p:sp>
        <p:nvSpPr>
          <p:cNvPr id="12" name="Text 10"/>
          <p:cNvSpPr/>
          <p:nvPr/>
        </p:nvSpPr>
        <p:spPr>
          <a:xfrm>
            <a:off x="10305288" y="1572768"/>
            <a:ext cx="1481328" cy="1463040"/>
          </a:xfrm>
          <a:prstGeom prst="rect">
            <a:avLst/>
          </a:prstGeom>
          <a:solidFill>
            <a:srgbClr val="172033"/>
          </a:solidFill>
          <a:ln w="16510">
            <a:solidFill>
              <a:srgbClr val="22D3EE"/>
            </a:solidFill>
          </a:ln>
        </p:spPr>
        <p:txBody>
          <a:bodyPr wrap="square" lIns="1651" tIns="1651" rIns="1651" bIns="1651" rtlCol="0" anchor="ctr">
            <a:normAutofit/>
          </a:bodyPr>
          <a:lstStyle/>
          <a:p>
            <a:pPr marL="0" indent="0" algn="ctr">
              <a:buNone/>
            </a:pPr>
            <a:r>
              <a:rPr lang="en-US" sz="1280" dirty="0">
                <a:solidFill>
                  <a:srgbClr val="F8FAFC"/>
                </a:solidFill>
                <a:latin typeface="Aptos" pitchFamily="34" charset="0"/>
                <a:ea typeface="Aptos" pitchFamily="34" charset="-122"/>
                <a:cs typeface="Aptos" pitchFamily="34" charset="-120"/>
              </a:rPr>
              <a:t>5. Review</a:t>
            </a:r>
            <a:endParaRPr lang="en-US" sz="1280" dirty="0"/>
          </a:p>
          <a:p>
            <a:pPr marL="0" indent="0" algn="ctr">
              <a:buNone/>
            </a:pPr>
            <a:r>
              <a:rPr lang="en-US" sz="1280" dirty="0">
                <a:solidFill>
                  <a:srgbClr val="F8FAFC"/>
                </a:solidFill>
                <a:latin typeface="Aptos" pitchFamily="34" charset="0"/>
                <a:ea typeface="Aptos" pitchFamily="34" charset="-122"/>
                <a:cs typeface="Aptos" pitchFamily="34" charset="-120"/>
              </a:rPr>
              <a:t>history + stats</a:t>
            </a:r>
            <a:endParaRPr lang="en-US" sz="1280" dirty="0"/>
          </a:p>
        </p:txBody>
      </p:sp>
      <p:sp>
        <p:nvSpPr>
          <p:cNvPr id="13" name="Text 11"/>
          <p:cNvSpPr/>
          <p:nvPr/>
        </p:nvSpPr>
        <p:spPr>
          <a:xfrm>
            <a:off x="777240" y="3794760"/>
            <a:ext cx="2880360" cy="274320"/>
          </a:xfrm>
          <a:prstGeom prst="rect">
            <a:avLst/>
          </a:prstGeom>
          <a:noFill/>
          <a:ln/>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In the live demo, I will:</a:t>
            </a:r>
            <a:endParaRPr lang="en-US" sz="2200" dirty="0"/>
          </a:p>
        </p:txBody>
      </p:sp>
      <p:sp>
        <p:nvSpPr>
          <p:cNvPr id="14" name="Text 12"/>
          <p:cNvSpPr/>
          <p:nvPr/>
        </p:nvSpPr>
        <p:spPr>
          <a:xfrm>
            <a:off x="777240" y="4279392"/>
            <a:ext cx="4892040" cy="1143000"/>
          </a:xfrm>
          <a:prstGeom prst="rect">
            <a:avLst/>
          </a:prstGeom>
          <a:noFill/>
          <a:ln/>
        </p:spPr>
        <p:txBody>
          <a:bodyPr wrap="square" lIns="381" tIns="381" rIns="381" bIns="381" rtlCol="0" anchor="ctr">
            <a:normAutofit lnSpcReduction="10000"/>
          </a:bodyPr>
          <a:lstStyle/>
          <a:p>
            <a:pPr marL="0" indent="0">
              <a:buNone/>
            </a:pPr>
            <a:r>
              <a:rPr lang="en-US" sz="1600" dirty="0">
                <a:solidFill>
                  <a:srgbClr val="94A3B8"/>
                </a:solidFill>
                <a:latin typeface="Aptos" pitchFamily="34" charset="0"/>
                <a:ea typeface="Aptos" pitchFamily="34" charset="-122"/>
                <a:cs typeface="Aptos" pitchFamily="34" charset="-120"/>
              </a:rPr>
              <a:t>• start a Python or C practice test</a:t>
            </a:r>
            <a:endParaRPr lang="en-US" sz="1600" dirty="0"/>
          </a:p>
          <a:p>
            <a:pPr marL="0" indent="0">
              <a:buNone/>
            </a:pPr>
            <a:r>
              <a:rPr lang="en-US" sz="1600" dirty="0">
                <a:solidFill>
                  <a:srgbClr val="94A3B8"/>
                </a:solidFill>
                <a:latin typeface="Aptos" pitchFamily="34" charset="0"/>
                <a:ea typeface="Aptos" pitchFamily="34" charset="-122"/>
                <a:cs typeface="Aptos" pitchFamily="34" charset="-120"/>
              </a:rPr>
              <a:t>• intentionally make and fix a mistake</a:t>
            </a:r>
            <a:endParaRPr lang="en-US" sz="1600" dirty="0"/>
          </a:p>
          <a:p>
            <a:pPr marL="0" indent="0">
              <a:buNone/>
            </a:pPr>
            <a:r>
              <a:rPr lang="en-US" sz="1600" dirty="0">
                <a:solidFill>
                  <a:srgbClr val="94A3B8"/>
                </a:solidFill>
                <a:latin typeface="Aptos" pitchFamily="34" charset="0"/>
                <a:ea typeface="Aptos" pitchFamily="34" charset="-122"/>
                <a:cs typeface="Aptos" pitchFamily="34" charset="-120"/>
              </a:rPr>
              <a:t>• finish the snippet to trigger the result panel</a:t>
            </a:r>
            <a:endParaRPr lang="en-US" sz="1600" dirty="0"/>
          </a:p>
          <a:p>
            <a:pPr marL="0" indent="0">
              <a:buNone/>
            </a:pPr>
            <a:r>
              <a:rPr lang="en-US" sz="1600" dirty="0">
                <a:solidFill>
                  <a:srgbClr val="94A3B8"/>
                </a:solidFill>
                <a:latin typeface="Aptos" pitchFamily="34" charset="0"/>
                <a:ea typeface="Aptos" pitchFamily="34" charset="-122"/>
                <a:cs typeface="Aptos" pitchFamily="34" charset="-120"/>
              </a:rPr>
              <a:t>• open History to show saved statistics</a:t>
            </a:r>
            <a:endParaRPr lang="en-US" sz="1600" dirty="0"/>
          </a:p>
          <a:p>
            <a:pPr marL="0" indent="0">
              <a:buNone/>
            </a:pPr>
            <a:r>
              <a:rPr lang="en-US" sz="1600" dirty="0">
                <a:solidFill>
                  <a:srgbClr val="94A3B8"/>
                </a:solidFill>
                <a:latin typeface="Aptos" pitchFamily="34" charset="0"/>
                <a:ea typeface="Aptos" pitchFamily="34" charset="-122"/>
                <a:cs typeface="Aptos" pitchFamily="34" charset="-120"/>
              </a:rPr>
              <a:t>• clear history to show the database action</a:t>
            </a:r>
            <a:endParaRPr lang="en-US" sz="1600" dirty="0"/>
          </a:p>
        </p:txBody>
      </p:sp>
      <p:sp>
        <p:nvSpPr>
          <p:cNvPr id="15" name="Text 13"/>
          <p:cNvSpPr/>
          <p:nvPr/>
        </p:nvSpPr>
        <p:spPr>
          <a:xfrm>
            <a:off x="6629400" y="3767328"/>
            <a:ext cx="2103120" cy="256032"/>
          </a:xfrm>
          <a:prstGeom prst="rect">
            <a:avLst/>
          </a:prstGeom>
          <a:noFill/>
          <a:ln/>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Result example</a:t>
            </a:r>
            <a:endParaRPr lang="en-US" sz="2200" dirty="0"/>
          </a:p>
        </p:txBody>
      </p:sp>
      <p:sp>
        <p:nvSpPr>
          <p:cNvPr id="16" name="Text 14"/>
          <p:cNvSpPr/>
          <p:nvPr/>
        </p:nvSpPr>
        <p:spPr>
          <a:xfrm>
            <a:off x="6629400" y="4279392"/>
            <a:ext cx="1097280" cy="841248"/>
          </a:xfrm>
          <a:prstGeom prst="rect">
            <a:avLst/>
          </a:prstGeom>
          <a:solidFill>
            <a:srgbClr val="111827"/>
          </a:solidFill>
          <a:ln>
            <a:solidFill>
              <a:srgbClr val="4ADE80">
                <a:alpha val="70000"/>
              </a:srgbClr>
            </a:solidFill>
          </a:ln>
        </p:spPr>
        <p:txBody>
          <a:bodyPr wrap="square" lIns="635" tIns="635" rIns="635" bIns="635" rtlCol="0" anchor="ctr"/>
          <a:lstStyle/>
          <a:p>
            <a:pPr marL="0" indent="0" algn="ctr">
              <a:buNone/>
            </a:pPr>
            <a:r>
              <a:rPr lang="en-US" sz="1200" b="1" dirty="0">
                <a:solidFill>
                  <a:srgbClr val="4ADE80"/>
                </a:solidFill>
                <a:latin typeface="Aptos" pitchFamily="34" charset="0"/>
                <a:ea typeface="Aptos" pitchFamily="34" charset="-122"/>
                <a:cs typeface="Aptos" pitchFamily="34" charset="-120"/>
              </a:rPr>
              <a:t>WPM</a:t>
            </a:r>
            <a:endParaRPr lang="en-US" sz="1200" dirty="0"/>
          </a:p>
          <a:p>
            <a:pPr marL="0" indent="0" algn="ctr">
              <a:buNone/>
            </a:pPr>
            <a:r>
              <a:rPr lang="en-US" sz="1200" b="1" dirty="0">
                <a:solidFill>
                  <a:srgbClr val="4ADE80"/>
                </a:solidFill>
                <a:latin typeface="Aptos" pitchFamily="34" charset="0"/>
                <a:ea typeface="Aptos" pitchFamily="34" charset="-122"/>
                <a:cs typeface="Aptos" pitchFamily="34" charset="-120"/>
              </a:rPr>
              <a:t>48.6</a:t>
            </a:r>
            <a:endParaRPr lang="en-US" sz="1200" dirty="0"/>
          </a:p>
        </p:txBody>
      </p:sp>
      <p:sp>
        <p:nvSpPr>
          <p:cNvPr id="17" name="Text 15"/>
          <p:cNvSpPr/>
          <p:nvPr/>
        </p:nvSpPr>
        <p:spPr>
          <a:xfrm>
            <a:off x="8028432" y="4279392"/>
            <a:ext cx="1353312" cy="841248"/>
          </a:xfrm>
          <a:prstGeom prst="rect">
            <a:avLst/>
          </a:prstGeom>
          <a:solidFill>
            <a:srgbClr val="111827"/>
          </a:solidFill>
          <a:ln>
            <a:solidFill>
              <a:srgbClr val="22D3EE">
                <a:alpha val="70000"/>
              </a:srgbClr>
            </a:solidFill>
          </a:ln>
        </p:spPr>
        <p:txBody>
          <a:bodyPr wrap="square" lIns="635" tIns="635" rIns="635" bIns="635" rtlCol="0" anchor="ctr"/>
          <a:lstStyle/>
          <a:p>
            <a:pPr marL="0" indent="0" algn="ctr">
              <a:buNone/>
            </a:pPr>
            <a:r>
              <a:rPr lang="en-US" sz="1200" b="1" dirty="0">
                <a:solidFill>
                  <a:srgbClr val="22D3EE"/>
                </a:solidFill>
                <a:latin typeface="Aptos" pitchFamily="34" charset="0"/>
                <a:ea typeface="Aptos" pitchFamily="34" charset="-122"/>
                <a:cs typeface="Aptos" pitchFamily="34" charset="-120"/>
              </a:rPr>
              <a:t>Accuracy</a:t>
            </a:r>
            <a:endParaRPr lang="en-US" sz="1200" dirty="0"/>
          </a:p>
          <a:p>
            <a:pPr marL="0" indent="0" algn="ctr">
              <a:buNone/>
            </a:pPr>
            <a:r>
              <a:rPr lang="en-US" sz="1200" b="1" dirty="0">
                <a:solidFill>
                  <a:srgbClr val="22D3EE"/>
                </a:solidFill>
                <a:latin typeface="Aptos" pitchFamily="34" charset="0"/>
                <a:ea typeface="Aptos" pitchFamily="34" charset="-122"/>
                <a:cs typeface="Aptos" pitchFamily="34" charset="-120"/>
              </a:rPr>
              <a:t>95.7%</a:t>
            </a:r>
            <a:endParaRPr lang="en-US" sz="1200" dirty="0"/>
          </a:p>
        </p:txBody>
      </p:sp>
      <p:sp>
        <p:nvSpPr>
          <p:cNvPr id="18" name="Text 16"/>
          <p:cNvSpPr/>
          <p:nvPr/>
        </p:nvSpPr>
        <p:spPr>
          <a:xfrm>
            <a:off x="9665208" y="4279392"/>
            <a:ext cx="1051560" cy="841248"/>
          </a:xfrm>
          <a:prstGeom prst="rect">
            <a:avLst/>
          </a:prstGeom>
          <a:solidFill>
            <a:srgbClr val="111827"/>
          </a:solidFill>
          <a:ln>
            <a:solidFill>
              <a:srgbClr val="FB7185">
                <a:alpha val="70000"/>
              </a:srgbClr>
            </a:solidFill>
          </a:ln>
        </p:spPr>
        <p:txBody>
          <a:bodyPr wrap="square" lIns="635" tIns="635" rIns="635" bIns="635" rtlCol="0" anchor="ctr"/>
          <a:lstStyle/>
          <a:p>
            <a:pPr marL="0" indent="0" algn="ctr">
              <a:buNone/>
            </a:pPr>
            <a:r>
              <a:rPr lang="en-US" sz="1200" b="1" dirty="0">
                <a:solidFill>
                  <a:srgbClr val="FB7185"/>
                </a:solidFill>
                <a:latin typeface="Aptos" pitchFamily="34" charset="0"/>
                <a:ea typeface="Aptos" pitchFamily="34" charset="-122"/>
                <a:cs typeface="Aptos" pitchFamily="34" charset="-120"/>
              </a:rPr>
              <a:t>Mistakes</a:t>
            </a:r>
            <a:endParaRPr lang="en-US" sz="1200" dirty="0"/>
          </a:p>
          <a:p>
            <a:pPr marL="0" indent="0" algn="ctr">
              <a:buNone/>
            </a:pPr>
            <a:r>
              <a:rPr lang="en-US" sz="1200" b="1" dirty="0">
                <a:solidFill>
                  <a:srgbClr val="FB7185"/>
                </a:solidFill>
                <a:latin typeface="Aptos" pitchFamily="34" charset="0"/>
                <a:ea typeface="Aptos" pitchFamily="34" charset="-122"/>
                <a:cs typeface="Aptos" pitchFamily="34" charset="-120"/>
              </a:rPr>
              <a:t>4</a:t>
            </a:r>
            <a:endParaRPr lang="en-US" sz="1200" dirty="0"/>
          </a:p>
        </p:txBody>
      </p:sp>
      <p:sp>
        <p:nvSpPr>
          <p:cNvPr id="19" name="Text 17"/>
          <p:cNvSpPr/>
          <p:nvPr/>
        </p:nvSpPr>
        <p:spPr>
          <a:xfrm>
            <a:off x="6629400" y="5376672"/>
            <a:ext cx="1097280" cy="585216"/>
          </a:xfrm>
          <a:prstGeom prst="rect">
            <a:avLst/>
          </a:prstGeom>
          <a:solidFill>
            <a:srgbClr val="111827"/>
          </a:solidFill>
          <a:ln>
            <a:solidFill>
              <a:srgbClr val="FBBF24">
                <a:alpha val="70000"/>
              </a:srgbClr>
            </a:solidFill>
          </a:ln>
        </p:spPr>
        <p:txBody>
          <a:bodyPr wrap="square" lIns="635" tIns="635" rIns="635" bIns="635" rtlCol="0" anchor="ctr"/>
          <a:lstStyle/>
          <a:p>
            <a:pPr marL="0" indent="0" algn="ctr">
              <a:buNone/>
            </a:pPr>
            <a:r>
              <a:rPr lang="en-US" sz="1100" dirty="0">
                <a:solidFill>
                  <a:srgbClr val="FBBF24"/>
                </a:solidFill>
                <a:latin typeface="Aptos" pitchFamily="34" charset="0"/>
                <a:ea typeface="Aptos" pitchFamily="34" charset="-122"/>
                <a:cs typeface="Aptos" pitchFamily="34" charset="-120"/>
              </a:rPr>
              <a:t>Time</a:t>
            </a:r>
            <a:endParaRPr lang="en-US" sz="1100" dirty="0"/>
          </a:p>
          <a:p>
            <a:pPr marL="0" indent="0" algn="ctr">
              <a:buNone/>
            </a:pPr>
            <a:r>
              <a:rPr lang="en-US" sz="1100" dirty="0">
                <a:solidFill>
                  <a:srgbClr val="FBBF24"/>
                </a:solidFill>
                <a:latin typeface="Aptos" pitchFamily="34" charset="0"/>
                <a:ea typeface="Aptos" pitchFamily="34" charset="-122"/>
                <a:cs typeface="Aptos" pitchFamily="34" charset="-120"/>
              </a:rPr>
              <a:t>31.4s</a:t>
            </a:r>
            <a:endParaRPr lang="en-US" sz="1100" dirty="0"/>
          </a:p>
        </p:txBody>
      </p:sp>
      <p:sp>
        <p:nvSpPr>
          <p:cNvPr id="20" name="Text 18"/>
          <p:cNvSpPr/>
          <p:nvPr/>
        </p:nvSpPr>
        <p:spPr>
          <a:xfrm>
            <a:off x="8028432" y="5376672"/>
            <a:ext cx="2706624" cy="585216"/>
          </a:xfrm>
          <a:prstGeom prst="rect">
            <a:avLst/>
          </a:prstGeom>
          <a:solidFill>
            <a:srgbClr val="111827"/>
          </a:solidFill>
          <a:ln>
            <a:solidFill>
              <a:srgbClr val="A78BFA">
                <a:alpha val="70000"/>
              </a:srgbClr>
            </a:solidFill>
          </a:ln>
        </p:spPr>
        <p:txBody>
          <a:bodyPr wrap="square" lIns="635" tIns="635" rIns="635" bIns="635" rtlCol="0" anchor="ctr"/>
          <a:lstStyle/>
          <a:p>
            <a:pPr marL="0" indent="0" algn="ctr">
              <a:buNone/>
            </a:pPr>
            <a:r>
              <a:rPr lang="en-US" sz="1100" dirty="0">
                <a:solidFill>
                  <a:srgbClr val="A78BFA"/>
                </a:solidFill>
                <a:latin typeface="Aptos" pitchFamily="34" charset="0"/>
                <a:ea typeface="Aptos" pitchFamily="34" charset="-122"/>
                <a:cs typeface="Aptos" pitchFamily="34" charset="-120"/>
              </a:rPr>
              <a:t>Mode</a:t>
            </a:r>
            <a:endParaRPr lang="en-US" sz="1100" dirty="0"/>
          </a:p>
          <a:p>
            <a:pPr marL="0" indent="0" algn="ctr">
              <a:buNone/>
            </a:pPr>
            <a:r>
              <a:rPr lang="en-US" sz="1100" dirty="0">
                <a:solidFill>
                  <a:srgbClr val="A78BFA"/>
                </a:solidFill>
                <a:latin typeface="Aptos" pitchFamily="34" charset="0"/>
                <a:ea typeface="Aptos" pitchFamily="34" charset="-122"/>
                <a:cs typeface="Aptos" pitchFamily="34" charset="-120"/>
              </a:rPr>
              <a:t>Python · Medium</a:t>
            </a:r>
            <a:endParaRPr lang="en-US" sz="1100" dirty="0"/>
          </a:p>
        </p:txBody>
      </p:sp>
      <p:sp>
        <p:nvSpPr>
          <p:cNvPr id="21" name="Text 19"/>
          <p:cNvSpPr/>
          <p:nvPr/>
        </p:nvSpPr>
        <p:spPr>
          <a:xfrm>
            <a:off x="502920" y="6510528"/>
            <a:ext cx="594360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CodeType · CS50x Final Project</a:t>
            </a:r>
            <a:endParaRPr lang="en-US" sz="8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02920" y="320040"/>
            <a:ext cx="7132320" cy="38404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How It Works</a:t>
            </a:r>
            <a:endParaRPr lang="en-US" sz="2800" dirty="0"/>
          </a:p>
        </p:txBody>
      </p:sp>
      <p:sp>
        <p:nvSpPr>
          <p:cNvPr id="3" name="Text 1"/>
          <p:cNvSpPr/>
          <p:nvPr/>
        </p:nvSpPr>
        <p:spPr>
          <a:xfrm>
            <a:off x="530352" y="749808"/>
            <a:ext cx="8046720" cy="228600"/>
          </a:xfrm>
          <a:prstGeom prst="rect">
            <a:avLst/>
          </a:prstGeom>
          <a:noFill/>
          <a:ln/>
        </p:spPr>
        <p:txBody>
          <a:bodyPr wrap="square" lIns="0" tIns="0" rIns="0" bIns="0" rtlCol="0" anchor="ctr"/>
          <a:lstStyle/>
          <a:p>
            <a:pPr marL="0" indent="0">
              <a:buNone/>
            </a:pPr>
            <a:r>
              <a:rPr lang="en-US" sz="1400" dirty="0">
                <a:solidFill>
                  <a:srgbClr val="94A3B8"/>
                </a:solidFill>
                <a:latin typeface="Aptos" pitchFamily="34" charset="0"/>
                <a:ea typeface="Aptos" pitchFamily="34" charset="-122"/>
                <a:cs typeface="Aptos" pitchFamily="34" charset="-120"/>
              </a:rPr>
              <a:t>Static snippets stay in JSON; dynamic user attempts are stored in SQLite.</a:t>
            </a:r>
            <a:endParaRPr lang="en-US" sz="1400" dirty="0"/>
          </a:p>
        </p:txBody>
      </p:sp>
      <p:sp>
        <p:nvSpPr>
          <p:cNvPr id="4" name="Shape 2"/>
          <p:cNvSpPr/>
          <p:nvPr/>
        </p:nvSpPr>
        <p:spPr>
          <a:xfrm>
            <a:off x="1783080" y="1965960"/>
            <a:ext cx="960120" cy="0"/>
          </a:xfrm>
          <a:prstGeom prst="line">
            <a:avLst/>
          </a:prstGeom>
          <a:noFill/>
          <a:ln w="16510">
            <a:solidFill>
              <a:srgbClr val="22D3EE"/>
            </a:solidFill>
            <a:prstDash val="solid"/>
            <a:headEnd type="none"/>
            <a:tailEnd type="triangle"/>
          </a:ln>
        </p:spPr>
      </p:sp>
      <p:sp>
        <p:nvSpPr>
          <p:cNvPr id="5" name="Shape 3"/>
          <p:cNvSpPr/>
          <p:nvPr/>
        </p:nvSpPr>
        <p:spPr>
          <a:xfrm>
            <a:off x="4114800" y="1965960"/>
            <a:ext cx="854765" cy="0"/>
          </a:xfrm>
          <a:prstGeom prst="line">
            <a:avLst/>
          </a:prstGeom>
          <a:noFill/>
          <a:ln w="16510">
            <a:solidFill>
              <a:srgbClr val="22D3EE"/>
            </a:solidFill>
            <a:prstDash val="solid"/>
            <a:headEnd type="none"/>
            <a:tailEnd type="triangle"/>
          </a:ln>
        </p:spPr>
      </p:sp>
      <p:sp>
        <p:nvSpPr>
          <p:cNvPr id="6" name="Shape 4"/>
          <p:cNvSpPr/>
          <p:nvPr/>
        </p:nvSpPr>
        <p:spPr>
          <a:xfrm>
            <a:off x="6446520" y="1965960"/>
            <a:ext cx="960120" cy="0"/>
          </a:xfrm>
          <a:prstGeom prst="line">
            <a:avLst/>
          </a:prstGeom>
          <a:noFill/>
          <a:ln w="16510">
            <a:solidFill>
              <a:srgbClr val="22D3EE"/>
            </a:solidFill>
            <a:prstDash val="solid"/>
            <a:headEnd type="none"/>
            <a:tailEnd type="triangle"/>
          </a:ln>
        </p:spPr>
      </p:sp>
      <p:sp>
        <p:nvSpPr>
          <p:cNvPr id="7" name="Shape 5"/>
          <p:cNvSpPr/>
          <p:nvPr/>
        </p:nvSpPr>
        <p:spPr>
          <a:xfrm>
            <a:off x="8778240" y="1965960"/>
            <a:ext cx="960120" cy="0"/>
          </a:xfrm>
          <a:prstGeom prst="line">
            <a:avLst/>
          </a:prstGeom>
          <a:noFill/>
          <a:ln w="16510">
            <a:solidFill>
              <a:srgbClr val="22D3EE"/>
            </a:solidFill>
            <a:prstDash val="solid"/>
            <a:headEnd type="none"/>
            <a:tailEnd type="triangle"/>
          </a:ln>
        </p:spPr>
      </p:sp>
      <p:sp>
        <p:nvSpPr>
          <p:cNvPr id="8" name="Text 6"/>
          <p:cNvSpPr/>
          <p:nvPr/>
        </p:nvSpPr>
        <p:spPr>
          <a:xfrm>
            <a:off x="530352" y="1371600"/>
            <a:ext cx="1280160" cy="1188720"/>
          </a:xfrm>
          <a:prstGeom prst="rect">
            <a:avLst/>
          </a:prstGeom>
          <a:solidFill>
            <a:srgbClr val="172033"/>
          </a:solidFill>
          <a:ln w="16510">
            <a:solidFill>
              <a:srgbClr val="FBBF24"/>
            </a:solidFill>
          </a:ln>
        </p:spPr>
        <p:txBody>
          <a:bodyPr wrap="square" lIns="1651" tIns="1651" rIns="1651" bIns="1651" rtlCol="0" anchor="ctr">
            <a:normAutofit/>
          </a:bodyPr>
          <a:lstStyle/>
          <a:p>
            <a:pPr marL="0" indent="0" algn="ctr">
              <a:buNone/>
            </a:pPr>
            <a:r>
              <a:rPr lang="en-US" sz="1280" dirty="0">
                <a:solidFill>
                  <a:srgbClr val="F8FAFC"/>
                </a:solidFill>
                <a:latin typeface="Aptos" pitchFamily="34" charset="0"/>
                <a:ea typeface="Aptos" pitchFamily="34" charset="-122"/>
                <a:cs typeface="Aptos" pitchFamily="34" charset="-120"/>
              </a:rPr>
              <a:t>snippets.json</a:t>
            </a:r>
            <a:endParaRPr lang="en-US" sz="1280" dirty="0"/>
          </a:p>
          <a:p>
            <a:pPr marL="0" indent="0" algn="ctr">
              <a:buNone/>
            </a:pPr>
            <a:r>
              <a:rPr lang="en-US" sz="1280" dirty="0">
                <a:solidFill>
                  <a:srgbClr val="F8FAFC"/>
                </a:solidFill>
                <a:latin typeface="Aptos" pitchFamily="34" charset="0"/>
                <a:ea typeface="Aptos" pitchFamily="34" charset="-122"/>
                <a:cs typeface="Aptos" pitchFamily="34" charset="-120"/>
              </a:rPr>
              <a:t>static code data</a:t>
            </a:r>
            <a:endParaRPr lang="en-US" sz="1280" dirty="0"/>
          </a:p>
        </p:txBody>
      </p:sp>
      <p:sp>
        <p:nvSpPr>
          <p:cNvPr id="9" name="Text 7"/>
          <p:cNvSpPr/>
          <p:nvPr/>
        </p:nvSpPr>
        <p:spPr>
          <a:xfrm>
            <a:off x="2761488" y="1371600"/>
            <a:ext cx="1371600" cy="1188720"/>
          </a:xfrm>
          <a:prstGeom prst="rect">
            <a:avLst/>
          </a:prstGeom>
          <a:solidFill>
            <a:srgbClr val="172033"/>
          </a:solidFill>
          <a:ln w="16510">
            <a:solidFill>
              <a:srgbClr val="4ADE80"/>
            </a:solidFill>
          </a:ln>
        </p:spPr>
        <p:txBody>
          <a:bodyPr wrap="square" lIns="1651" tIns="1651" rIns="1651" bIns="1651" rtlCol="0" anchor="ctr">
            <a:normAutofit/>
          </a:bodyPr>
          <a:lstStyle/>
          <a:p>
            <a:pPr marL="0" indent="0" algn="ctr">
              <a:buNone/>
            </a:pPr>
            <a:r>
              <a:rPr lang="en-US" sz="1280" dirty="0">
                <a:solidFill>
                  <a:srgbClr val="F8FAFC"/>
                </a:solidFill>
                <a:latin typeface="Aptos" pitchFamily="34" charset="0"/>
                <a:ea typeface="Aptos" pitchFamily="34" charset="-122"/>
                <a:cs typeface="Aptos" pitchFamily="34" charset="-120"/>
              </a:rPr>
              <a:t>Flask</a:t>
            </a:r>
            <a:endParaRPr lang="en-US" sz="1280" dirty="0"/>
          </a:p>
          <a:p>
            <a:pPr marL="0" indent="0" algn="ctr">
              <a:buNone/>
            </a:pPr>
            <a:r>
              <a:rPr lang="en-US" sz="1280" dirty="0">
                <a:solidFill>
                  <a:srgbClr val="F8FAFC"/>
                </a:solidFill>
                <a:latin typeface="Aptos" pitchFamily="34" charset="0"/>
                <a:ea typeface="Aptos" pitchFamily="34" charset="-122"/>
                <a:cs typeface="Aptos" pitchFamily="34" charset="-120"/>
              </a:rPr>
              <a:t>routes + validation</a:t>
            </a:r>
            <a:endParaRPr lang="en-US" sz="1280" dirty="0"/>
          </a:p>
        </p:txBody>
      </p:sp>
      <p:sp>
        <p:nvSpPr>
          <p:cNvPr id="10" name="Text 8"/>
          <p:cNvSpPr/>
          <p:nvPr/>
        </p:nvSpPr>
        <p:spPr>
          <a:xfrm>
            <a:off x="4969565" y="1371600"/>
            <a:ext cx="1495243" cy="1188720"/>
          </a:xfrm>
          <a:prstGeom prst="rect">
            <a:avLst/>
          </a:prstGeom>
          <a:solidFill>
            <a:srgbClr val="172033"/>
          </a:solidFill>
          <a:ln w="16510">
            <a:solidFill>
              <a:srgbClr val="60A5FA"/>
            </a:solidFill>
          </a:ln>
        </p:spPr>
        <p:txBody>
          <a:bodyPr wrap="square" lIns="1651" tIns="1651" rIns="1651" bIns="1651" rtlCol="0" anchor="ctr">
            <a:normAutofit/>
          </a:bodyPr>
          <a:lstStyle/>
          <a:p>
            <a:pPr marL="0" indent="0" algn="ctr">
              <a:buNone/>
            </a:pPr>
            <a:r>
              <a:rPr lang="en-US" sz="1280" dirty="0">
                <a:solidFill>
                  <a:srgbClr val="F8FAFC"/>
                </a:solidFill>
                <a:latin typeface="Aptos" pitchFamily="34" charset="0"/>
                <a:ea typeface="Aptos" pitchFamily="34" charset="-122"/>
                <a:cs typeface="Aptos" pitchFamily="34" charset="-120"/>
              </a:rPr>
              <a:t>Browser JS</a:t>
            </a:r>
            <a:endParaRPr lang="en-US" sz="1280" dirty="0"/>
          </a:p>
          <a:p>
            <a:pPr marL="0" indent="0" algn="ctr">
              <a:buNone/>
            </a:pPr>
            <a:r>
              <a:rPr lang="en-US" sz="1280" dirty="0">
                <a:solidFill>
                  <a:srgbClr val="F8FAFC"/>
                </a:solidFill>
                <a:latin typeface="Aptos" pitchFamily="34" charset="0"/>
                <a:ea typeface="Aptos" pitchFamily="34" charset="-122"/>
                <a:cs typeface="Aptos" pitchFamily="34" charset="-120"/>
              </a:rPr>
              <a:t>timer + comparison</a:t>
            </a:r>
            <a:endParaRPr lang="en-US" sz="1280" dirty="0"/>
          </a:p>
        </p:txBody>
      </p:sp>
      <p:sp>
        <p:nvSpPr>
          <p:cNvPr id="11" name="Text 9"/>
          <p:cNvSpPr/>
          <p:nvPr/>
        </p:nvSpPr>
        <p:spPr>
          <a:xfrm>
            <a:off x="7424928" y="1371600"/>
            <a:ext cx="1371600" cy="1188720"/>
          </a:xfrm>
          <a:prstGeom prst="rect">
            <a:avLst/>
          </a:prstGeom>
          <a:solidFill>
            <a:srgbClr val="172033"/>
          </a:solidFill>
          <a:ln w="16510">
            <a:solidFill>
              <a:srgbClr val="A78BFA"/>
            </a:solidFill>
          </a:ln>
        </p:spPr>
        <p:txBody>
          <a:bodyPr wrap="square" lIns="1651" tIns="1651" rIns="1651" bIns="1651" rtlCol="0" anchor="ctr">
            <a:normAutofit/>
          </a:bodyPr>
          <a:lstStyle/>
          <a:p>
            <a:pPr marL="0" indent="0" algn="ctr">
              <a:buNone/>
            </a:pPr>
            <a:r>
              <a:rPr lang="en-US" sz="1280" dirty="0">
                <a:solidFill>
                  <a:srgbClr val="F8FAFC"/>
                </a:solidFill>
                <a:latin typeface="Aptos" pitchFamily="34" charset="0"/>
                <a:ea typeface="Aptos" pitchFamily="34" charset="-122"/>
                <a:cs typeface="Aptos" pitchFamily="34" charset="-120"/>
              </a:rPr>
              <a:t>SQLite</a:t>
            </a:r>
            <a:endParaRPr lang="en-US" sz="1280" dirty="0"/>
          </a:p>
          <a:p>
            <a:pPr marL="0" indent="0" algn="ctr">
              <a:buNone/>
            </a:pPr>
            <a:r>
              <a:rPr lang="en-US" sz="1280" dirty="0">
                <a:solidFill>
                  <a:srgbClr val="F8FAFC"/>
                </a:solidFill>
                <a:latin typeface="Aptos" pitchFamily="34" charset="0"/>
                <a:ea typeface="Aptos" pitchFamily="34" charset="-122"/>
                <a:cs typeface="Aptos" pitchFamily="34" charset="-120"/>
              </a:rPr>
              <a:t>attempts table</a:t>
            </a:r>
            <a:endParaRPr lang="en-US" sz="1280" dirty="0"/>
          </a:p>
        </p:txBody>
      </p:sp>
      <p:sp>
        <p:nvSpPr>
          <p:cNvPr id="12" name="Text 10"/>
          <p:cNvSpPr/>
          <p:nvPr/>
        </p:nvSpPr>
        <p:spPr>
          <a:xfrm>
            <a:off x="9756648" y="1371600"/>
            <a:ext cx="1371600" cy="1188720"/>
          </a:xfrm>
          <a:prstGeom prst="rect">
            <a:avLst/>
          </a:prstGeom>
          <a:solidFill>
            <a:srgbClr val="172033"/>
          </a:solidFill>
          <a:ln w="16510">
            <a:solidFill>
              <a:srgbClr val="22D3EE"/>
            </a:solidFill>
          </a:ln>
        </p:spPr>
        <p:txBody>
          <a:bodyPr wrap="square" lIns="1651" tIns="1651" rIns="1651" bIns="1651" rtlCol="0" anchor="ctr">
            <a:normAutofit/>
          </a:bodyPr>
          <a:lstStyle/>
          <a:p>
            <a:pPr marL="0" indent="0" algn="ctr">
              <a:buNone/>
            </a:pPr>
            <a:r>
              <a:rPr lang="en-US" sz="1280" dirty="0">
                <a:solidFill>
                  <a:srgbClr val="F8FAFC"/>
                </a:solidFill>
                <a:latin typeface="Aptos" pitchFamily="34" charset="0"/>
                <a:ea typeface="Aptos" pitchFamily="34" charset="-122"/>
                <a:cs typeface="Aptos" pitchFamily="34" charset="-120"/>
              </a:rPr>
              <a:t>History</a:t>
            </a:r>
            <a:endParaRPr lang="en-US" sz="1280" dirty="0"/>
          </a:p>
          <a:p>
            <a:pPr marL="0" indent="0" algn="ctr">
              <a:buNone/>
            </a:pPr>
            <a:r>
              <a:rPr lang="en-US" sz="1280" dirty="0">
                <a:solidFill>
                  <a:srgbClr val="F8FAFC"/>
                </a:solidFill>
                <a:latin typeface="Aptos" pitchFamily="34" charset="0"/>
                <a:ea typeface="Aptos" pitchFamily="34" charset="-122"/>
                <a:cs typeface="Aptos" pitchFamily="34" charset="-120"/>
              </a:rPr>
              <a:t>aggregate stats</a:t>
            </a:r>
            <a:endParaRPr lang="en-US" sz="1280" dirty="0"/>
          </a:p>
        </p:txBody>
      </p:sp>
      <p:sp>
        <p:nvSpPr>
          <p:cNvPr id="13" name="Text 11"/>
          <p:cNvSpPr/>
          <p:nvPr/>
        </p:nvSpPr>
        <p:spPr>
          <a:xfrm>
            <a:off x="658368" y="3182112"/>
            <a:ext cx="2560320" cy="320040"/>
          </a:xfrm>
          <a:prstGeom prst="rect">
            <a:avLst/>
          </a:prstGeom>
          <a:noFill/>
          <a:ln/>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Database schema</a:t>
            </a:r>
            <a:endParaRPr lang="en-US" sz="2200" dirty="0"/>
          </a:p>
        </p:txBody>
      </p:sp>
      <p:sp>
        <p:nvSpPr>
          <p:cNvPr id="14" name="Text 12"/>
          <p:cNvSpPr/>
          <p:nvPr/>
        </p:nvSpPr>
        <p:spPr>
          <a:xfrm>
            <a:off x="713232" y="3703320"/>
            <a:ext cx="3090672" cy="2057400"/>
          </a:xfrm>
          <a:prstGeom prst="rect">
            <a:avLst/>
          </a:prstGeom>
          <a:solidFill>
            <a:srgbClr val="020617"/>
          </a:solidFill>
          <a:ln>
            <a:solidFill>
              <a:srgbClr val="334155"/>
            </a:solidFill>
          </a:ln>
        </p:spPr>
        <p:txBody>
          <a:bodyPr wrap="square" lIns="2032" tIns="2032" rIns="2032" bIns="2032" rtlCol="0" anchor="ctr">
            <a:normAutofit/>
          </a:bodyPr>
          <a:lstStyle/>
          <a:p>
            <a:pPr marL="0" indent="0">
              <a:buNone/>
            </a:pPr>
            <a:r>
              <a:rPr lang="en-US" sz="1200" dirty="0">
                <a:solidFill>
                  <a:srgbClr val="F8FAFC"/>
                </a:solidFill>
                <a:latin typeface="Consolas" pitchFamily="34" charset="0"/>
                <a:ea typeface="Consolas" pitchFamily="34" charset="-122"/>
                <a:cs typeface="Consolas" pitchFamily="34" charset="-120"/>
              </a:rPr>
              <a:t>attempts</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id INTEGER PRIMARY KEY</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snippet_id TEXT</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language TEXT</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difficulty TEXT</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wpm REAL</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accuracy REAL</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errors INTEGER</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duration_seconds REAL</a:t>
            </a:r>
            <a:endParaRPr lang="en-US" sz="1200" dirty="0"/>
          </a:p>
          <a:p>
            <a:pPr marL="0" indent="0">
              <a:buNone/>
            </a:pPr>
            <a:r>
              <a:rPr lang="en-US" sz="1200" dirty="0">
                <a:solidFill>
                  <a:srgbClr val="F8FAFC"/>
                </a:solidFill>
                <a:latin typeface="Consolas" pitchFamily="34" charset="0"/>
                <a:ea typeface="Consolas" pitchFamily="34" charset="-122"/>
                <a:cs typeface="Consolas" pitchFamily="34" charset="-120"/>
              </a:rPr>
              <a:t>created_at TIMESTAMP</a:t>
            </a:r>
            <a:endParaRPr lang="en-US" sz="1200" dirty="0"/>
          </a:p>
        </p:txBody>
      </p:sp>
      <p:sp>
        <p:nvSpPr>
          <p:cNvPr id="15" name="Text 13"/>
          <p:cNvSpPr/>
          <p:nvPr/>
        </p:nvSpPr>
        <p:spPr>
          <a:xfrm>
            <a:off x="4617719" y="3182112"/>
            <a:ext cx="3780845" cy="320040"/>
          </a:xfrm>
          <a:prstGeom prst="rect">
            <a:avLst/>
          </a:prstGeom>
          <a:noFill/>
          <a:ln/>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SQL used on History page</a:t>
            </a:r>
            <a:endParaRPr lang="en-US" sz="2200" dirty="0"/>
          </a:p>
        </p:txBody>
      </p:sp>
      <p:sp>
        <p:nvSpPr>
          <p:cNvPr id="16" name="Text 14"/>
          <p:cNvSpPr/>
          <p:nvPr/>
        </p:nvSpPr>
        <p:spPr>
          <a:xfrm>
            <a:off x="4617720" y="3703320"/>
            <a:ext cx="3703320" cy="2057400"/>
          </a:xfrm>
          <a:prstGeom prst="rect">
            <a:avLst/>
          </a:prstGeom>
          <a:solidFill>
            <a:srgbClr val="020617"/>
          </a:solidFill>
          <a:ln>
            <a:solidFill>
              <a:srgbClr val="334155"/>
            </a:solidFill>
          </a:ln>
        </p:spPr>
        <p:txBody>
          <a:bodyPr wrap="square" lIns="2032" tIns="2032" rIns="2032" bIns="2032"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SELECT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language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COUNT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tests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MAX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wpm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best_wpm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AVG</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wpm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avg_wpm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AVG</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accuracy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avg_accuracy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66D9EF"/>
                </a:solidFill>
                <a:latin typeface="Consolas" pitchFamily="34" charset="0"/>
                <a:ea typeface="Consolas" pitchFamily="34" charset="-122"/>
                <a:cs typeface="Consolas" pitchFamily="34" charset="-120"/>
              </a:rPr>
              <a:t>FROM</a:t>
            </a:r>
            <a:r>
              <a:rPr lang="en-US" sz="1400" dirty="0">
                <a:solidFill>
                  <a:srgbClr val="FFFFFF"/>
                </a:solidFill>
                <a:latin typeface="Consolas" pitchFamily="34" charset="0"/>
                <a:ea typeface="Consolas" pitchFamily="34" charset="-122"/>
                <a:cs typeface="Consolas" pitchFamily="34" charset="-120"/>
              </a:rPr>
              <a:t> attempts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66D9EF"/>
                </a:solidFill>
                <a:latin typeface="Consolas" pitchFamily="34" charset="0"/>
                <a:ea typeface="Consolas" pitchFamily="34" charset="-122"/>
                <a:cs typeface="Consolas" pitchFamily="34" charset="-120"/>
              </a:rPr>
              <a:t>GROUP</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BY</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language</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8 </a:t>
            </a:r>
            <a:r>
              <a:rPr lang="en-US" sz="1400" dirty="0">
                <a:solidFill>
                  <a:srgbClr val="66D9EF"/>
                </a:solidFill>
                <a:latin typeface="Consolas" pitchFamily="34" charset="0"/>
                <a:ea typeface="Consolas" pitchFamily="34" charset="-122"/>
                <a:cs typeface="Consolas" pitchFamily="34" charset="-120"/>
              </a:rPr>
              <a:t>ORDER</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BY</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language</a:t>
            </a:r>
            <a:r>
              <a:rPr lang="en-US" sz="1400" dirty="0">
                <a:solidFill>
                  <a:srgbClr val="F8F8F2"/>
                </a:solidFill>
                <a:latin typeface="Consolas" pitchFamily="34" charset="0"/>
                <a:ea typeface="Consolas" pitchFamily="34" charset="-122"/>
                <a:cs typeface="Consolas" pitchFamily="34" charset="-120"/>
              </a:rPr>
              <a:t>;</a:t>
            </a:r>
            <a:endParaRPr lang="en-US" sz="1200" dirty="0"/>
          </a:p>
        </p:txBody>
      </p:sp>
      <p:sp>
        <p:nvSpPr>
          <p:cNvPr id="17" name="Text 15"/>
          <p:cNvSpPr/>
          <p:nvPr/>
        </p:nvSpPr>
        <p:spPr>
          <a:xfrm>
            <a:off x="9006840" y="3182112"/>
            <a:ext cx="1645920" cy="320040"/>
          </a:xfrm>
          <a:prstGeom prst="rect">
            <a:avLst/>
          </a:prstGeom>
          <a:noFill/>
          <a:ln/>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Validation</a:t>
            </a:r>
            <a:endParaRPr lang="en-US" sz="2200" dirty="0"/>
          </a:p>
        </p:txBody>
      </p:sp>
      <p:sp>
        <p:nvSpPr>
          <p:cNvPr id="18" name="Text 16"/>
          <p:cNvSpPr/>
          <p:nvPr/>
        </p:nvSpPr>
        <p:spPr>
          <a:xfrm>
            <a:off x="9006840" y="3703320"/>
            <a:ext cx="2468880" cy="1417320"/>
          </a:xfrm>
          <a:prstGeom prst="rect">
            <a:avLst/>
          </a:prstGeom>
          <a:noFill/>
          <a:ln/>
        </p:spPr>
        <p:txBody>
          <a:bodyPr wrap="square" lIns="254" tIns="254" rIns="254" bIns="254" rtlCol="0" anchor="ctr">
            <a:normAutofit/>
          </a:bodyPr>
          <a:lstStyle/>
          <a:p>
            <a:pPr marL="0" indent="0">
              <a:buNone/>
            </a:pPr>
            <a:r>
              <a:rPr lang="en-US" sz="1400" dirty="0">
                <a:solidFill>
                  <a:srgbClr val="94A3B8"/>
                </a:solidFill>
                <a:latin typeface="Aptos" pitchFamily="34" charset="0"/>
                <a:ea typeface="Aptos" pitchFamily="34" charset="-122"/>
                <a:cs typeface="Aptos" pitchFamily="34" charset="-120"/>
              </a:rPr>
              <a:t>The backend </a:t>
            </a:r>
            <a:r>
              <a:rPr lang="en-US" sz="1600" dirty="0">
                <a:solidFill>
                  <a:srgbClr val="94A3B8"/>
                </a:solidFill>
                <a:latin typeface="Aptos" pitchFamily="34" charset="0"/>
                <a:ea typeface="Aptos" pitchFamily="34" charset="-122"/>
                <a:cs typeface="Aptos" pitchFamily="34" charset="-120"/>
              </a:rPr>
              <a:t>checks</a:t>
            </a:r>
            <a:r>
              <a:rPr lang="en-US" sz="1400" dirty="0">
                <a:solidFill>
                  <a:srgbClr val="94A3B8"/>
                </a:solidFill>
                <a:latin typeface="Aptos" pitchFamily="34" charset="0"/>
                <a:ea typeface="Aptos" pitchFamily="34" charset="-122"/>
                <a:cs typeface="Aptos" pitchFamily="34" charset="-120"/>
              </a:rPr>
              <a:t> supported language, difficulty, snippet ID, WPM, accuracy, errors, and duration before saving. SQL inserts use parameterized placeholders.</a:t>
            </a:r>
            <a:endParaRPr lang="en-US" sz="1400" dirty="0"/>
          </a:p>
        </p:txBody>
      </p:sp>
      <p:sp>
        <p:nvSpPr>
          <p:cNvPr id="19" name="Text 17"/>
          <p:cNvSpPr/>
          <p:nvPr/>
        </p:nvSpPr>
        <p:spPr>
          <a:xfrm>
            <a:off x="9006840" y="5440680"/>
            <a:ext cx="2468880" cy="365760"/>
          </a:xfrm>
          <a:prstGeom prst="rect">
            <a:avLst/>
          </a:prstGeom>
          <a:noFill/>
          <a:ln/>
        </p:spPr>
        <p:txBody>
          <a:bodyPr wrap="square" lIns="0" tIns="0" rIns="0" bIns="0" rtlCol="0" anchor="ctr">
            <a:normAutofit lnSpcReduction="10000"/>
          </a:bodyPr>
          <a:lstStyle/>
          <a:p>
            <a:pPr marL="0" indent="0">
              <a:buNone/>
            </a:pPr>
            <a:r>
              <a:rPr lang="en-US" sz="1250" b="1" dirty="0">
                <a:solidFill>
                  <a:srgbClr val="22D3EE"/>
                </a:solidFill>
                <a:latin typeface="Aptos" pitchFamily="34" charset="0"/>
                <a:ea typeface="Aptos" pitchFamily="34" charset="-122"/>
                <a:cs typeface="Aptos" pitchFamily="34" charset="-120"/>
              </a:rPr>
              <a:t>CS50 connection: Python · SQL · Flask · JavaScript · HTML/CSS</a:t>
            </a:r>
            <a:endParaRPr lang="en-US" sz="1250" dirty="0"/>
          </a:p>
        </p:txBody>
      </p:sp>
      <p:sp>
        <p:nvSpPr>
          <p:cNvPr id="20" name="Text 18"/>
          <p:cNvSpPr/>
          <p:nvPr/>
        </p:nvSpPr>
        <p:spPr>
          <a:xfrm>
            <a:off x="502920" y="6510528"/>
            <a:ext cx="594360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CodeType · CS50x Final Project</a:t>
            </a:r>
            <a:endParaRPr lang="en-US" sz="8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02920" y="320040"/>
            <a:ext cx="7132320" cy="384048"/>
          </a:xfrm>
          <a:prstGeom prst="rect">
            <a:avLst/>
          </a:prstGeom>
          <a:noFill/>
          <a:ln/>
        </p:spPr>
        <p:txBody>
          <a:bodyPr wrap="square" lIns="0" tIns="0" rIns="0" bIns="0" rtlCol="0" anchor="ctr"/>
          <a:lstStyle/>
          <a:p>
            <a:pPr marL="0" indent="0">
              <a:buNone/>
            </a:pPr>
            <a:r>
              <a:rPr lang="en-US" sz="2600" b="1" dirty="0">
                <a:solidFill>
                  <a:srgbClr val="F8FAFC"/>
                </a:solidFill>
                <a:latin typeface="Aptos Display" pitchFamily="34" charset="0"/>
                <a:ea typeface="Aptos Display" pitchFamily="34" charset="-122"/>
                <a:cs typeface="Aptos Display" pitchFamily="34" charset="-120"/>
              </a:rPr>
              <a:t>What I Built &amp; Learned</a:t>
            </a:r>
            <a:endParaRPr lang="en-US" sz="2600" dirty="0"/>
          </a:p>
        </p:txBody>
      </p:sp>
      <p:sp>
        <p:nvSpPr>
          <p:cNvPr id="3" name="Text 1"/>
          <p:cNvSpPr/>
          <p:nvPr/>
        </p:nvSpPr>
        <p:spPr>
          <a:xfrm>
            <a:off x="530352" y="749808"/>
            <a:ext cx="8046720" cy="228600"/>
          </a:xfrm>
          <a:prstGeom prst="rect">
            <a:avLst/>
          </a:prstGeom>
          <a:noFill/>
          <a:ln/>
        </p:spPr>
        <p:txBody>
          <a:bodyPr wrap="square" lIns="0" tIns="0" rIns="0" bIns="0" rtlCol="0" anchor="ctr"/>
          <a:lstStyle/>
          <a:p>
            <a:pPr marL="0" indent="0">
              <a:buNone/>
            </a:pPr>
            <a:r>
              <a:rPr lang="en-US" sz="1050" dirty="0">
                <a:solidFill>
                  <a:srgbClr val="94A3B8"/>
                </a:solidFill>
                <a:latin typeface="Aptos" pitchFamily="34" charset="0"/>
                <a:ea typeface="Aptos" pitchFamily="34" charset="-122"/>
                <a:cs typeface="Aptos" pitchFamily="34" charset="-120"/>
              </a:rPr>
              <a:t>A compact CS50 project that combines web programming, SQL, and client-side algorithms.</a:t>
            </a:r>
            <a:endParaRPr lang="en-US" sz="1050" dirty="0"/>
          </a:p>
        </p:txBody>
      </p:sp>
      <p:sp>
        <p:nvSpPr>
          <p:cNvPr id="4" name="Text 2"/>
          <p:cNvSpPr/>
          <p:nvPr/>
        </p:nvSpPr>
        <p:spPr>
          <a:xfrm>
            <a:off x="749808" y="1325880"/>
            <a:ext cx="2240280" cy="384048"/>
          </a:xfrm>
          <a:prstGeom prst="rect">
            <a:avLst/>
          </a:prstGeom>
          <a:noFill/>
          <a:ln/>
        </p:spPr>
        <p:txBody>
          <a:bodyPr wrap="square" lIns="0" tIns="0" rIns="0" bIns="0" rtlCol="0" anchor="ctr"/>
          <a:lstStyle/>
          <a:p>
            <a:pPr marL="0" indent="0">
              <a:buNone/>
            </a:pPr>
            <a:r>
              <a:rPr lang="en-US" sz="1800" b="1" dirty="0">
                <a:solidFill>
                  <a:srgbClr val="4ADE80"/>
                </a:solidFill>
                <a:latin typeface="Aptos Display" pitchFamily="34" charset="0"/>
                <a:ea typeface="Aptos Display" pitchFamily="34" charset="-122"/>
                <a:cs typeface="Aptos Display" pitchFamily="34" charset="-120"/>
              </a:rPr>
              <a:t>Python / Flask</a:t>
            </a:r>
            <a:endParaRPr lang="en-US" sz="1800" dirty="0"/>
          </a:p>
        </p:txBody>
      </p:sp>
      <p:sp>
        <p:nvSpPr>
          <p:cNvPr id="5" name="Text 3"/>
          <p:cNvSpPr/>
          <p:nvPr/>
        </p:nvSpPr>
        <p:spPr>
          <a:xfrm>
            <a:off x="3154680" y="1353312"/>
            <a:ext cx="4206240" cy="292608"/>
          </a:xfrm>
          <a:prstGeom prst="rect">
            <a:avLst/>
          </a:prstGeom>
          <a:noFill/>
          <a:ln/>
        </p:spPr>
        <p:txBody>
          <a:bodyPr wrap="square" lIns="0" tIns="0" rIns="0" bIns="0" rtlCol="0" anchor="ctr"/>
          <a:lstStyle/>
          <a:p>
            <a:pPr marL="0" indent="0">
              <a:buNone/>
            </a:pPr>
            <a:r>
              <a:rPr lang="en-US" sz="1350" dirty="0">
                <a:solidFill>
                  <a:srgbClr val="94A3B8"/>
                </a:solidFill>
                <a:latin typeface="Aptos" pitchFamily="34" charset="0"/>
                <a:ea typeface="Aptos" pitchFamily="34" charset="-122"/>
                <a:cs typeface="Aptos" pitchFamily="34" charset="-120"/>
              </a:rPr>
              <a:t>server routes, validation, JSON responses</a:t>
            </a:r>
            <a:endParaRPr lang="en-US" sz="1350" dirty="0"/>
          </a:p>
        </p:txBody>
      </p:sp>
      <p:sp>
        <p:nvSpPr>
          <p:cNvPr id="6" name="Text 4"/>
          <p:cNvSpPr/>
          <p:nvPr/>
        </p:nvSpPr>
        <p:spPr>
          <a:xfrm>
            <a:off x="749808" y="2075688"/>
            <a:ext cx="2240280" cy="384048"/>
          </a:xfrm>
          <a:prstGeom prst="rect">
            <a:avLst/>
          </a:prstGeom>
          <a:noFill/>
          <a:ln/>
        </p:spPr>
        <p:txBody>
          <a:bodyPr wrap="square" lIns="0" tIns="0" rIns="0" bIns="0" rtlCol="0" anchor="ctr"/>
          <a:lstStyle/>
          <a:p>
            <a:pPr marL="0" indent="0">
              <a:buNone/>
            </a:pPr>
            <a:r>
              <a:rPr lang="en-US" sz="1800" b="1" dirty="0">
                <a:solidFill>
                  <a:srgbClr val="A78BFA"/>
                </a:solidFill>
                <a:latin typeface="Aptos Display" pitchFamily="34" charset="0"/>
                <a:ea typeface="Aptos Display" pitchFamily="34" charset="-122"/>
                <a:cs typeface="Aptos Display" pitchFamily="34" charset="-120"/>
              </a:rPr>
              <a:t>SQLite / SQL</a:t>
            </a:r>
            <a:endParaRPr lang="en-US" sz="1800" dirty="0"/>
          </a:p>
        </p:txBody>
      </p:sp>
      <p:sp>
        <p:nvSpPr>
          <p:cNvPr id="7" name="Text 5"/>
          <p:cNvSpPr/>
          <p:nvPr/>
        </p:nvSpPr>
        <p:spPr>
          <a:xfrm>
            <a:off x="3154680" y="2103120"/>
            <a:ext cx="4206240" cy="292608"/>
          </a:xfrm>
          <a:prstGeom prst="rect">
            <a:avLst/>
          </a:prstGeom>
          <a:noFill/>
          <a:ln/>
        </p:spPr>
        <p:txBody>
          <a:bodyPr wrap="square" lIns="0" tIns="0" rIns="0" bIns="0" rtlCol="0" anchor="ctr"/>
          <a:lstStyle/>
          <a:p>
            <a:pPr marL="0" indent="0">
              <a:buNone/>
            </a:pPr>
            <a:r>
              <a:rPr lang="en-US" sz="1350" dirty="0">
                <a:solidFill>
                  <a:srgbClr val="94A3B8"/>
                </a:solidFill>
                <a:latin typeface="Aptos" pitchFamily="34" charset="0"/>
                <a:ea typeface="Aptos" pitchFamily="34" charset="-122"/>
                <a:cs typeface="Aptos" pitchFamily="34" charset="-120"/>
              </a:rPr>
              <a:t>attempt storage, history, aggregate stats</a:t>
            </a:r>
            <a:endParaRPr lang="en-US" sz="1350" dirty="0"/>
          </a:p>
        </p:txBody>
      </p:sp>
      <p:sp>
        <p:nvSpPr>
          <p:cNvPr id="8" name="Text 6"/>
          <p:cNvSpPr/>
          <p:nvPr/>
        </p:nvSpPr>
        <p:spPr>
          <a:xfrm>
            <a:off x="749808" y="2825496"/>
            <a:ext cx="2240280" cy="384048"/>
          </a:xfrm>
          <a:prstGeom prst="rect">
            <a:avLst/>
          </a:prstGeom>
          <a:noFill/>
          <a:ln/>
        </p:spPr>
        <p:txBody>
          <a:bodyPr wrap="square" lIns="0" tIns="0" rIns="0" bIns="0" rtlCol="0" anchor="ctr"/>
          <a:lstStyle/>
          <a:p>
            <a:pPr marL="0" indent="0">
              <a:buNone/>
            </a:pPr>
            <a:r>
              <a:rPr lang="en-US" sz="1800" b="1" dirty="0">
                <a:solidFill>
                  <a:srgbClr val="FBBF24"/>
                </a:solidFill>
                <a:latin typeface="Aptos Display" pitchFamily="34" charset="0"/>
                <a:ea typeface="Aptos Display" pitchFamily="34" charset="-122"/>
                <a:cs typeface="Aptos Display" pitchFamily="34" charset="-120"/>
              </a:rPr>
              <a:t>JavaScript</a:t>
            </a:r>
            <a:endParaRPr lang="en-US" sz="1800" dirty="0"/>
          </a:p>
        </p:txBody>
      </p:sp>
      <p:sp>
        <p:nvSpPr>
          <p:cNvPr id="9" name="Text 7"/>
          <p:cNvSpPr/>
          <p:nvPr/>
        </p:nvSpPr>
        <p:spPr>
          <a:xfrm>
            <a:off x="3154680" y="2852928"/>
            <a:ext cx="4206240" cy="292608"/>
          </a:xfrm>
          <a:prstGeom prst="rect">
            <a:avLst/>
          </a:prstGeom>
          <a:noFill/>
          <a:ln/>
        </p:spPr>
        <p:txBody>
          <a:bodyPr wrap="square" lIns="0" tIns="0" rIns="0" bIns="0" rtlCol="0" anchor="ctr"/>
          <a:lstStyle/>
          <a:p>
            <a:pPr marL="0" indent="0">
              <a:buNone/>
            </a:pPr>
            <a:r>
              <a:rPr lang="en-US" sz="1350" dirty="0">
                <a:solidFill>
                  <a:srgbClr val="94A3B8"/>
                </a:solidFill>
                <a:latin typeface="Aptos" pitchFamily="34" charset="0"/>
                <a:ea typeface="Aptos" pitchFamily="34" charset="-122"/>
                <a:cs typeface="Aptos" pitchFamily="34" charset="-120"/>
              </a:rPr>
              <a:t>timer, key handling, live metrics, fetch API</a:t>
            </a:r>
            <a:endParaRPr lang="en-US" sz="1350" dirty="0"/>
          </a:p>
        </p:txBody>
      </p:sp>
      <p:sp>
        <p:nvSpPr>
          <p:cNvPr id="10" name="Text 8"/>
          <p:cNvSpPr/>
          <p:nvPr/>
        </p:nvSpPr>
        <p:spPr>
          <a:xfrm>
            <a:off x="749808" y="3575304"/>
            <a:ext cx="2240280" cy="384048"/>
          </a:xfrm>
          <a:prstGeom prst="rect">
            <a:avLst/>
          </a:prstGeom>
          <a:noFill/>
          <a:ln/>
        </p:spPr>
        <p:txBody>
          <a:bodyPr wrap="square" lIns="0" tIns="0" rIns="0" bIns="0" rtlCol="0" anchor="ctr"/>
          <a:lstStyle/>
          <a:p>
            <a:pPr marL="0" indent="0">
              <a:buNone/>
            </a:pPr>
            <a:r>
              <a:rPr lang="en-US" sz="1800" b="1" dirty="0">
                <a:solidFill>
                  <a:srgbClr val="60A5FA"/>
                </a:solidFill>
                <a:latin typeface="Aptos Display" pitchFamily="34" charset="0"/>
                <a:ea typeface="Aptos Display" pitchFamily="34" charset="-122"/>
                <a:cs typeface="Aptos Display" pitchFamily="34" charset="-120"/>
              </a:rPr>
              <a:t>HTML / CSS</a:t>
            </a:r>
            <a:endParaRPr lang="en-US" sz="1800" dirty="0"/>
          </a:p>
        </p:txBody>
      </p:sp>
      <p:sp>
        <p:nvSpPr>
          <p:cNvPr id="11" name="Text 9"/>
          <p:cNvSpPr/>
          <p:nvPr/>
        </p:nvSpPr>
        <p:spPr>
          <a:xfrm>
            <a:off x="3154680" y="3602736"/>
            <a:ext cx="4206240" cy="292608"/>
          </a:xfrm>
          <a:prstGeom prst="rect">
            <a:avLst/>
          </a:prstGeom>
          <a:noFill/>
          <a:ln/>
        </p:spPr>
        <p:txBody>
          <a:bodyPr wrap="square" lIns="0" tIns="0" rIns="0" bIns="0" rtlCol="0" anchor="ctr"/>
          <a:lstStyle/>
          <a:p>
            <a:pPr marL="0" indent="0">
              <a:buNone/>
            </a:pPr>
            <a:r>
              <a:rPr lang="en-US" sz="1350" dirty="0">
                <a:solidFill>
                  <a:srgbClr val="94A3B8"/>
                </a:solidFill>
                <a:latin typeface="Aptos" pitchFamily="34" charset="0"/>
                <a:ea typeface="Aptos" pitchFamily="34" charset="-122"/>
                <a:cs typeface="Aptos" pitchFamily="34" charset="-120"/>
              </a:rPr>
              <a:t>responsive UI and code-focused typing interface</a:t>
            </a:r>
            <a:endParaRPr lang="en-US" sz="1350" dirty="0"/>
          </a:p>
        </p:txBody>
      </p:sp>
      <p:sp>
        <p:nvSpPr>
          <p:cNvPr id="12" name="Text 10"/>
          <p:cNvSpPr/>
          <p:nvPr/>
        </p:nvSpPr>
        <p:spPr>
          <a:xfrm>
            <a:off x="749808" y="4325112"/>
            <a:ext cx="2240280" cy="384048"/>
          </a:xfrm>
          <a:prstGeom prst="rect">
            <a:avLst/>
          </a:prstGeom>
          <a:noFill/>
          <a:ln/>
        </p:spPr>
        <p:txBody>
          <a:bodyPr wrap="square" lIns="0" tIns="0" rIns="0" bIns="0" rtlCol="0" anchor="ctr"/>
          <a:lstStyle/>
          <a:p>
            <a:pPr marL="0" indent="0">
              <a:buNone/>
            </a:pPr>
            <a:r>
              <a:rPr lang="en-US" sz="1800" b="1" dirty="0">
                <a:solidFill>
                  <a:srgbClr val="FB7185"/>
                </a:solidFill>
                <a:latin typeface="Aptos Display" pitchFamily="34" charset="0"/>
                <a:ea typeface="Aptos Display" pitchFamily="34" charset="-122"/>
                <a:cs typeface="Aptos Display" pitchFamily="34" charset="-120"/>
              </a:rPr>
              <a:t>Algorithmic logic</a:t>
            </a:r>
            <a:endParaRPr lang="en-US" sz="1800" dirty="0"/>
          </a:p>
        </p:txBody>
      </p:sp>
      <p:sp>
        <p:nvSpPr>
          <p:cNvPr id="13" name="Text 11"/>
          <p:cNvSpPr/>
          <p:nvPr/>
        </p:nvSpPr>
        <p:spPr>
          <a:xfrm>
            <a:off x="3154680" y="4352544"/>
            <a:ext cx="4206240" cy="292608"/>
          </a:xfrm>
          <a:prstGeom prst="rect">
            <a:avLst/>
          </a:prstGeom>
          <a:noFill/>
          <a:ln/>
        </p:spPr>
        <p:txBody>
          <a:bodyPr wrap="square" lIns="0" tIns="0" rIns="0" bIns="0" rtlCol="0" anchor="ctr"/>
          <a:lstStyle/>
          <a:p>
            <a:pPr marL="0" indent="0">
              <a:buNone/>
            </a:pPr>
            <a:r>
              <a:rPr lang="en-US" sz="1350" dirty="0">
                <a:solidFill>
                  <a:srgbClr val="94A3B8"/>
                </a:solidFill>
                <a:latin typeface="Aptos" pitchFamily="34" charset="0"/>
                <a:ea typeface="Aptos" pitchFamily="34" charset="-122"/>
                <a:cs typeface="Aptos" pitchFamily="34" charset="-120"/>
              </a:rPr>
              <a:t>character comparison, WPM, accuracy, completion</a:t>
            </a:r>
            <a:endParaRPr lang="en-US" sz="1350" dirty="0"/>
          </a:p>
        </p:txBody>
      </p:sp>
      <p:sp>
        <p:nvSpPr>
          <p:cNvPr id="14" name="Text 12"/>
          <p:cNvSpPr/>
          <p:nvPr/>
        </p:nvSpPr>
        <p:spPr>
          <a:xfrm>
            <a:off x="8001000" y="1371600"/>
            <a:ext cx="2377440" cy="365760"/>
          </a:xfrm>
          <a:prstGeom prst="rect">
            <a:avLst/>
          </a:prstGeom>
          <a:noFill/>
          <a:ln/>
        </p:spPr>
        <p:txBody>
          <a:bodyPr wrap="square" lIns="0" tIns="0" rIns="0" bIns="0"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Final message</a:t>
            </a:r>
            <a:endParaRPr lang="en-US" sz="2400" dirty="0"/>
          </a:p>
        </p:txBody>
      </p:sp>
      <p:sp>
        <p:nvSpPr>
          <p:cNvPr id="15" name="Text 13"/>
          <p:cNvSpPr/>
          <p:nvPr/>
        </p:nvSpPr>
        <p:spPr>
          <a:xfrm>
            <a:off x="8001000" y="1938528"/>
            <a:ext cx="3246120" cy="1005840"/>
          </a:xfrm>
          <a:prstGeom prst="rect">
            <a:avLst/>
          </a:prstGeom>
          <a:noFill/>
          <a:ln/>
        </p:spPr>
        <p:txBody>
          <a:bodyPr wrap="square" lIns="254" tIns="254" rIns="254" bIns="254" rtlCol="0" anchor="ctr">
            <a:normAutofit lnSpcReduction="10000"/>
          </a:bodyPr>
          <a:lstStyle/>
          <a:p>
            <a:pPr marL="0" indent="0">
              <a:buNone/>
            </a:pPr>
            <a:r>
              <a:rPr lang="en-US" sz="1650" dirty="0">
                <a:solidFill>
                  <a:srgbClr val="F8FAFC"/>
                </a:solidFill>
                <a:latin typeface="Aptos" pitchFamily="34" charset="0"/>
                <a:ea typeface="Aptos" pitchFamily="34" charset="-122"/>
                <a:cs typeface="Aptos" pitchFamily="34" charset="-120"/>
              </a:rPr>
              <a:t>CodeType is small by design, but complete: users can practice, receive meaningful feedback, and track progress over time.</a:t>
            </a:r>
            <a:endParaRPr lang="en-US" sz="1650" dirty="0"/>
          </a:p>
        </p:txBody>
      </p:sp>
      <p:sp>
        <p:nvSpPr>
          <p:cNvPr id="16" name="Text 14"/>
          <p:cNvSpPr/>
          <p:nvPr/>
        </p:nvSpPr>
        <p:spPr>
          <a:xfrm>
            <a:off x="8001000" y="3429000"/>
            <a:ext cx="2377440" cy="274320"/>
          </a:xfrm>
          <a:prstGeom prst="rect">
            <a:avLst/>
          </a:prstGeom>
          <a:noFill/>
          <a:ln/>
        </p:spPr>
        <p:txBody>
          <a:bodyPr wrap="square" lIns="0" tIns="0" rIns="0" bIns="0" rtlCol="0" anchor="ctr"/>
          <a:lstStyle/>
          <a:p>
            <a:pPr marL="0" indent="0">
              <a:buNone/>
            </a:pPr>
            <a:r>
              <a:rPr lang="en-US" sz="1200" b="1" dirty="0">
                <a:solidFill>
                  <a:srgbClr val="94A3B8"/>
                </a:solidFill>
                <a:latin typeface="Aptos" pitchFamily="34" charset="0"/>
                <a:ea typeface="Aptos" pitchFamily="34" charset="-122"/>
                <a:cs typeface="Aptos" pitchFamily="34" charset="-120"/>
              </a:rPr>
              <a:t>Future improvements</a:t>
            </a:r>
            <a:endParaRPr lang="en-US" sz="1200" dirty="0"/>
          </a:p>
        </p:txBody>
      </p:sp>
      <p:sp>
        <p:nvSpPr>
          <p:cNvPr id="17" name="Text 15"/>
          <p:cNvSpPr/>
          <p:nvPr/>
        </p:nvSpPr>
        <p:spPr>
          <a:xfrm>
            <a:off x="8001000" y="3840480"/>
            <a:ext cx="3246120" cy="822960"/>
          </a:xfrm>
          <a:prstGeom prst="rect">
            <a:avLst/>
          </a:prstGeom>
          <a:noFill/>
          <a:ln/>
        </p:spPr>
        <p:txBody>
          <a:bodyPr wrap="square" lIns="254" tIns="254" rIns="254" bIns="254" rtlCol="0" anchor="ctr">
            <a:normAutofit/>
          </a:bodyPr>
          <a:lstStyle/>
          <a:p>
            <a:pPr marL="0" indent="0">
              <a:buNone/>
            </a:pPr>
            <a:r>
              <a:rPr lang="en-US" sz="1400" dirty="0">
                <a:solidFill>
                  <a:srgbClr val="94A3B8"/>
                </a:solidFill>
                <a:latin typeface="Aptos" pitchFamily="34" charset="0"/>
                <a:ea typeface="Aptos" pitchFamily="34" charset="-122"/>
                <a:cs typeface="Aptos" pitchFamily="34" charset="-120"/>
              </a:rPr>
              <a:t>user profiles · custom snippets · more languages · performance charts · keyboard heatmaps</a:t>
            </a:r>
            <a:endParaRPr lang="en-US" sz="1400" dirty="0"/>
          </a:p>
        </p:txBody>
      </p:sp>
      <p:sp>
        <p:nvSpPr>
          <p:cNvPr id="18" name="Text 16"/>
          <p:cNvSpPr/>
          <p:nvPr/>
        </p:nvSpPr>
        <p:spPr>
          <a:xfrm>
            <a:off x="8000999" y="5120641"/>
            <a:ext cx="3349487" cy="777239"/>
          </a:xfrm>
          <a:prstGeom prst="rect">
            <a:avLst/>
          </a:prstGeom>
          <a:noFill/>
          <a:ln/>
        </p:spPr>
        <p:txBody>
          <a:bodyPr wrap="square" lIns="0" tIns="0" rIns="0" bIns="0" rtlCol="0" anchor="ctr"/>
          <a:lstStyle/>
          <a:p>
            <a:pPr marL="0" indent="0">
              <a:buNone/>
            </a:pPr>
            <a:r>
              <a:rPr lang="en-US" sz="3400" b="1" dirty="0">
                <a:solidFill>
                  <a:srgbClr val="22D3EE"/>
                </a:solidFill>
                <a:latin typeface="Aptos Display" pitchFamily="34" charset="0"/>
                <a:ea typeface="Aptos Display" pitchFamily="34" charset="-122"/>
                <a:cs typeface="Aptos Display" pitchFamily="34" charset="-120"/>
              </a:rPr>
              <a:t>Thank you!</a:t>
            </a:r>
            <a:endParaRPr lang="en-US" sz="3400" dirty="0"/>
          </a:p>
        </p:txBody>
      </p:sp>
      <p:sp>
        <p:nvSpPr>
          <p:cNvPr id="19" name="Text 17"/>
          <p:cNvSpPr/>
          <p:nvPr/>
        </p:nvSpPr>
        <p:spPr>
          <a:xfrm>
            <a:off x="502920" y="6510528"/>
            <a:ext cx="594360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Closing slide</a:t>
            </a:r>
            <a:endParaRPr lang="en-US" sz="8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1127</Words>
  <Application>Microsoft Macintosh PowerPoint</Application>
  <PresentationFormat>Widescreen</PresentationFormat>
  <Paragraphs>133</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CodeType - Programming Typing Practice</dc:title>
  <dc:subject>CodeType CS50x final project video deck</dc:subject>
  <dc:creator>OpenAI</dc:creator>
  <cp:lastModifiedBy>Sajjad Hossain Soykot</cp:lastModifiedBy>
  <cp:revision>9</cp:revision>
  <dcterms:created xsi:type="dcterms:W3CDTF">2026-09-01T21:44:37Z</dcterms:created>
  <dcterms:modified xsi:type="dcterms:W3CDTF">2026-09-01T22:53:34Z</dcterms:modified>
</cp:coreProperties>
</file>